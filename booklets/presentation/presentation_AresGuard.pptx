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1"/>
  </p:sldMasterIdLst>
  <p:notesMasterIdLst>
    <p:notesMasterId r:id="rId14"/>
  </p:notesMasterIdLst>
  <p:sldIdLst>
    <p:sldId id="256" r:id="rId2"/>
    <p:sldId id="257" r:id="rId3"/>
    <p:sldId id="262" r:id="rId4"/>
    <p:sldId id="276" r:id="rId5"/>
    <p:sldId id="266" r:id="rId6"/>
    <p:sldId id="258" r:id="rId7"/>
    <p:sldId id="261" r:id="rId8"/>
    <p:sldId id="264" r:id="rId9"/>
    <p:sldId id="269" r:id="rId10"/>
    <p:sldId id="270" r:id="rId11"/>
    <p:sldId id="278" r:id="rId12"/>
    <p:sldId id="275" r:id="rId13"/>
  </p:sldIdLst>
  <p:sldSz cx="18288000" cy="10287000"/>
  <p:notesSz cx="6858000" cy="9144000"/>
  <p:embeddedFontLst>
    <p:embeddedFont>
      <p:font typeface="Archivo Black" panose="020B0604020202020204" charset="0"/>
      <p:regular r:id="rId15"/>
    </p:embeddedFont>
    <p:embeddedFont>
      <p:font typeface="Noto Sans" panose="020B05020405040202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B22262-EE91-4951-AA39-8F43F4CDB637}">
  <a:tblStyle styleId="{0FB22262-EE91-4951-AA39-8F43F4CDB6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636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0" name="Google Shape;43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97783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subTitle" idx="1"/>
          </p:nvPr>
        </p:nvSpPr>
        <p:spPr>
          <a:xfrm>
            <a:off x="5590675" y="2724175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ctrTitle"/>
          </p:nvPr>
        </p:nvSpPr>
        <p:spPr>
          <a:xfrm>
            <a:off x="2990050" y="1254175"/>
            <a:ext cx="119985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 txBox="1">
            <a:spLocks noGrp="1"/>
          </p:cNvSpPr>
          <p:nvPr>
            <p:ph type="body" idx="1"/>
          </p:nvPr>
        </p:nvSpPr>
        <p:spPr>
          <a:xfrm>
            <a:off x="3329400" y="33365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ctrTitle"/>
          </p:nvPr>
        </p:nvSpPr>
        <p:spPr>
          <a:xfrm>
            <a:off x="2973825" y="1254175"/>
            <a:ext cx="119985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>
            <a:spLocks noGrp="1"/>
          </p:cNvSpPr>
          <p:nvPr>
            <p:ph type="body" idx="1"/>
          </p:nvPr>
        </p:nvSpPr>
        <p:spPr>
          <a:xfrm>
            <a:off x="3188813" y="5908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28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2800"/>
              <a:buNone/>
              <a:defRPr sz="28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2800"/>
              <a:buNone/>
              <a:defRPr sz="28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2800"/>
              <a:buNone/>
              <a:defRPr sz="28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2800"/>
              <a:buNone/>
              <a:defRPr sz="28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2800"/>
              <a:buNone/>
              <a:defRPr sz="28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2800"/>
              <a:buNone/>
              <a:defRPr sz="28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ctrTitle"/>
          </p:nvPr>
        </p:nvSpPr>
        <p:spPr>
          <a:xfrm>
            <a:off x="2973825" y="1254175"/>
            <a:ext cx="119985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"/>
          <p:cNvSpPr/>
          <p:nvPr/>
        </p:nvSpPr>
        <p:spPr>
          <a:xfrm>
            <a:off x="777407" y="1028700"/>
            <a:ext cx="16725409" cy="8230956"/>
          </a:xfrm>
          <a:custGeom>
            <a:avLst/>
            <a:gdLst/>
            <a:ahLst/>
            <a:cxnLst/>
            <a:rect l="l" t="t" r="r" b="b"/>
            <a:pathLst>
              <a:path w="4404321" h="2167467" extrusionOk="0">
                <a:moveTo>
                  <a:pt x="0" y="0"/>
                </a:moveTo>
                <a:lnTo>
                  <a:pt x="4404321" y="0"/>
                </a:lnTo>
                <a:lnTo>
                  <a:pt x="4404321" y="2167467"/>
                </a:lnTo>
                <a:lnTo>
                  <a:pt x="0" y="216746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 cmpd="sng">
            <a:solidFill>
              <a:srgbClr val="71CBEF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0" name="Google Shape;20;p6"/>
          <p:cNvSpPr txBox="1">
            <a:spLocks noGrp="1"/>
          </p:cNvSpPr>
          <p:nvPr>
            <p:ph type="body" idx="1"/>
          </p:nvPr>
        </p:nvSpPr>
        <p:spPr>
          <a:xfrm>
            <a:off x="4497775" y="343385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body" idx="2"/>
          </p:nvPr>
        </p:nvSpPr>
        <p:spPr>
          <a:xfrm>
            <a:off x="8688775" y="343385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55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marL="2286000" lvl="4" indent="-355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marL="2743200" lvl="5" indent="-355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marL="3200400" lvl="6" indent="-355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marL="3657600" lvl="7" indent="-355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marL="4114800" lvl="8" indent="-355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ctrTitle"/>
          </p:nvPr>
        </p:nvSpPr>
        <p:spPr>
          <a:xfrm>
            <a:off x="2973825" y="1254175"/>
            <a:ext cx="119985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ctrTitle"/>
          </p:nvPr>
        </p:nvSpPr>
        <p:spPr>
          <a:xfrm>
            <a:off x="2973825" y="1254175"/>
            <a:ext cx="119985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8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27" name="Google Shape;27;p8"/>
            <p:cNvSpPr/>
            <p:nvPr/>
          </p:nvSpPr>
          <p:spPr>
            <a:xfrm rot="5400000">
              <a:off x="8503696" y="-8503696"/>
              <a:ext cx="7376608" cy="24384000"/>
            </a:xfrm>
            <a:custGeom>
              <a:avLst/>
              <a:gdLst/>
              <a:ahLst/>
              <a:cxnLst/>
              <a:rect l="l" t="t" r="r" b="b"/>
              <a:pathLst>
                <a:path w="7376608" h="24384000" extrusionOk="0">
                  <a:moveTo>
                    <a:pt x="0" y="0"/>
                  </a:moveTo>
                  <a:lnTo>
                    <a:pt x="7376608" y="0"/>
                  </a:lnTo>
                  <a:lnTo>
                    <a:pt x="7376608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l="-25547" r="-204997"/>
              </a:stretch>
            </a:blipFill>
            <a:ln>
              <a:noFill/>
            </a:ln>
          </p:spPr>
        </p:sp>
        <p:sp>
          <p:nvSpPr>
            <p:cNvPr id="28" name="Google Shape;28;p8"/>
            <p:cNvSpPr/>
            <p:nvPr/>
          </p:nvSpPr>
          <p:spPr>
            <a:xfrm rot="5400000" flipH="1">
              <a:off x="9022304" y="-1645696"/>
              <a:ext cx="6339392" cy="24384000"/>
            </a:xfrm>
            <a:custGeom>
              <a:avLst/>
              <a:gdLst/>
              <a:ahLst/>
              <a:cxnLst/>
              <a:rect l="l" t="t" r="r" b="b"/>
              <a:pathLst>
                <a:path w="6339392" h="24384000" extrusionOk="0">
                  <a:moveTo>
                    <a:pt x="0" y="24384000"/>
                  </a:moveTo>
                  <a:lnTo>
                    <a:pt x="6339392" y="24384000"/>
                  </a:lnTo>
                  <a:lnTo>
                    <a:pt x="6339392" y="0"/>
                  </a:lnTo>
                  <a:lnTo>
                    <a:pt x="0" y="0"/>
                  </a:lnTo>
                  <a:lnTo>
                    <a:pt x="0" y="2438400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l="-29726" r="-254888"/>
              </a:stretch>
            </a:blipFill>
            <a:ln>
              <a:noFill/>
            </a:ln>
          </p:spPr>
        </p:sp>
      </p:grpSp>
      <p:sp>
        <p:nvSpPr>
          <p:cNvPr id="29" name="Google Shape;29;p8"/>
          <p:cNvSpPr/>
          <p:nvPr/>
        </p:nvSpPr>
        <p:spPr>
          <a:xfrm>
            <a:off x="770278" y="978858"/>
            <a:ext cx="16771192" cy="8593239"/>
          </a:xfrm>
          <a:custGeom>
            <a:avLst/>
            <a:gdLst/>
            <a:ahLst/>
            <a:cxnLst/>
            <a:rect l="l" t="t" r="r" b="b"/>
            <a:pathLst>
              <a:path w="4417075" h="2263225" extrusionOk="0">
                <a:moveTo>
                  <a:pt x="0" y="0"/>
                </a:moveTo>
                <a:lnTo>
                  <a:pt x="4417075" y="0"/>
                </a:lnTo>
                <a:lnTo>
                  <a:pt x="4417075" y="2263225"/>
                </a:lnTo>
                <a:lnTo>
                  <a:pt x="0" y="2263225"/>
                </a:lnTo>
                <a:close/>
              </a:path>
            </a:pathLst>
          </a:custGeom>
          <a:solidFill>
            <a:srgbClr val="0F1A38"/>
          </a:solidFill>
          <a:ln>
            <a:noFill/>
          </a:ln>
        </p:spPr>
      </p:sp>
      <p:sp>
        <p:nvSpPr>
          <p:cNvPr id="30" name="Google Shape;30;p8"/>
          <p:cNvSpPr/>
          <p:nvPr/>
        </p:nvSpPr>
        <p:spPr>
          <a:xfrm>
            <a:off x="1293927" y="1470225"/>
            <a:ext cx="15657436" cy="7608616"/>
          </a:xfrm>
          <a:custGeom>
            <a:avLst/>
            <a:gdLst/>
            <a:ahLst/>
            <a:cxnLst/>
            <a:rect l="l" t="t" r="r" b="b"/>
            <a:pathLst>
              <a:path w="4123742" h="2003902" extrusionOk="0">
                <a:moveTo>
                  <a:pt x="0" y="0"/>
                </a:moveTo>
                <a:lnTo>
                  <a:pt x="4123742" y="0"/>
                </a:lnTo>
                <a:lnTo>
                  <a:pt x="4123742" y="2003902"/>
                </a:lnTo>
                <a:lnTo>
                  <a:pt x="0" y="200390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 cmpd="sng">
            <a:solidFill>
              <a:srgbClr val="71CBEF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4013175" y="371910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9384350" y="371910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ctrTitle"/>
          </p:nvPr>
        </p:nvSpPr>
        <p:spPr>
          <a:xfrm>
            <a:off x="2876450" y="1778550"/>
            <a:ext cx="119985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1467738" y="2707275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>
            <a:spLocks noGrp="1"/>
          </p:cNvSpPr>
          <p:nvPr>
            <p:ph type="pic" idx="2"/>
          </p:nvPr>
        </p:nvSpPr>
        <p:spPr>
          <a:xfrm>
            <a:off x="10976863" y="23490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9"/>
          <p:cNvSpPr txBox="1">
            <a:spLocks noGrp="1"/>
          </p:cNvSpPr>
          <p:nvPr>
            <p:ph type="body" idx="1"/>
          </p:nvPr>
        </p:nvSpPr>
        <p:spPr>
          <a:xfrm>
            <a:off x="1662463" y="4004013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069750" y="1313200"/>
            <a:ext cx="115617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chivo Black"/>
              <a:buNone/>
              <a:defRPr sz="440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329400" y="33365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Noto Sans"/>
              <a:buChar char="•"/>
              <a:defRPr sz="32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"/>
              <a:buChar char="–"/>
              <a:defRPr sz="28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"/>
              <a:buChar char="•"/>
              <a:defRPr sz="24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"/>
              <a:buChar char="–"/>
              <a:defRPr sz="20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"/>
              <a:buChar char="»"/>
              <a:defRPr sz="20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"/>
              <a:buChar char="•"/>
              <a:defRPr sz="20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"/>
              <a:buChar char="•"/>
              <a:defRPr sz="20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"/>
              <a:buChar char="•"/>
              <a:defRPr sz="20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"/>
              <a:buChar char="•"/>
              <a:defRPr sz="20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/>
          <p:nvPr/>
        </p:nvSpPr>
        <p:spPr>
          <a:xfrm>
            <a:off x="15511784" y="0"/>
            <a:ext cx="11323471" cy="10287000"/>
          </a:xfrm>
          <a:custGeom>
            <a:avLst/>
            <a:gdLst/>
            <a:ahLst/>
            <a:cxnLst/>
            <a:rect l="l" t="t" r="r" b="b"/>
            <a:pathLst>
              <a:path w="11323471" h="10287000" extrusionOk="0">
                <a:moveTo>
                  <a:pt x="0" y="0"/>
                </a:moveTo>
                <a:lnTo>
                  <a:pt x="11323471" y="0"/>
                </a:lnTo>
                <a:lnTo>
                  <a:pt x="1132347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8701" r="-6656" b="-8700"/>
            </a:stretch>
          </a:blipFill>
          <a:ln>
            <a:noFill/>
          </a:ln>
        </p:spPr>
        <p:txBody>
          <a:bodyPr/>
          <a:lstStyle/>
          <a:p>
            <a:endParaRPr lang="it-IT" dirty="0"/>
          </a:p>
        </p:txBody>
      </p:sp>
      <p:sp>
        <p:nvSpPr>
          <p:cNvPr id="43" name="Google Shape;43;p10"/>
          <p:cNvSpPr/>
          <p:nvPr/>
        </p:nvSpPr>
        <p:spPr>
          <a:xfrm>
            <a:off x="9529763" y="6229349"/>
            <a:ext cx="5796283" cy="3104981"/>
          </a:xfrm>
          <a:custGeom>
            <a:avLst/>
            <a:gdLst/>
            <a:ahLst/>
            <a:cxnLst/>
            <a:rect l="l" t="t" r="r" b="b"/>
            <a:pathLst>
              <a:path w="6420159" h="3402684" extrusionOk="0">
                <a:moveTo>
                  <a:pt x="0" y="0"/>
                </a:moveTo>
                <a:lnTo>
                  <a:pt x="6420159" y="0"/>
                </a:lnTo>
                <a:lnTo>
                  <a:pt x="6420159" y="3402684"/>
                </a:lnTo>
                <a:lnTo>
                  <a:pt x="0" y="34026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it-IT" dirty="0"/>
          </a:p>
        </p:txBody>
      </p:sp>
      <p:grpSp>
        <p:nvGrpSpPr>
          <p:cNvPr id="44" name="Google Shape;44;p10"/>
          <p:cNvGrpSpPr/>
          <p:nvPr/>
        </p:nvGrpSpPr>
        <p:grpSpPr>
          <a:xfrm>
            <a:off x="1028700" y="5007562"/>
            <a:ext cx="3086120" cy="3266862"/>
            <a:chOff x="0" y="-47625"/>
            <a:chExt cx="812800" cy="860425"/>
          </a:xfrm>
        </p:grpSpPr>
        <p:sp>
          <p:nvSpPr>
            <p:cNvPr id="45" name="Google Shape;45;p10"/>
            <p:cNvSpPr/>
            <p:nvPr/>
          </p:nvSpPr>
          <p:spPr>
            <a:xfrm>
              <a:off x="0" y="0"/>
              <a:ext cx="812800" cy="42302"/>
            </a:xfrm>
            <a:custGeom>
              <a:avLst/>
              <a:gdLst/>
              <a:ahLst/>
              <a:cxnLst/>
              <a:rect l="l" t="t" r="r" b="b"/>
              <a:pathLst>
                <a:path w="812800" h="42302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42302"/>
                  </a:lnTo>
                  <a:lnTo>
                    <a:pt x="0" y="42302"/>
                  </a:lnTo>
                  <a:close/>
                </a:path>
              </a:pathLst>
            </a:custGeom>
            <a:solidFill>
              <a:srgbClr val="2D5B8F"/>
            </a:solidFill>
            <a:ln>
              <a:noFill/>
            </a:ln>
          </p:spPr>
        </p:sp>
        <p:sp>
          <p:nvSpPr>
            <p:cNvPr id="46" name="Google Shape;46;p10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" name="Google Shape;48;p10"/>
          <p:cNvSpPr txBox="1"/>
          <p:nvPr/>
        </p:nvSpPr>
        <p:spPr>
          <a:xfrm>
            <a:off x="1028700" y="6543660"/>
            <a:ext cx="622098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FFFFFF"/>
                </a:solidFill>
                <a:latin typeface="+mj-lt"/>
                <a:ea typeface="PT Serif"/>
                <a:cs typeface="PT Serif"/>
                <a:sym typeface="PT Serif"/>
              </a:rPr>
              <a:t>Ettore Cantile 2026562</a:t>
            </a:r>
            <a:endParaRPr lang="en-US" sz="2800" dirty="0">
              <a:solidFill>
                <a:srgbClr val="FFFFFF"/>
              </a:solidFill>
              <a:latin typeface="+mj-lt"/>
              <a:sym typeface="PT Serif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+mj-lt"/>
                <a:sym typeface="PT Serif"/>
              </a:rPr>
              <a:t>Leonardo </a:t>
            </a:r>
            <a:r>
              <a:rPr lang="en-US" sz="2800" dirty="0" err="1">
                <a:solidFill>
                  <a:srgbClr val="FFFFFF"/>
                </a:solidFill>
                <a:latin typeface="+mj-lt"/>
                <a:sym typeface="PT Serif"/>
              </a:rPr>
              <a:t>Chiarparin</a:t>
            </a:r>
            <a:r>
              <a:rPr lang="en-US" sz="2800" dirty="0">
                <a:solidFill>
                  <a:srgbClr val="FFFFFF"/>
                </a:solidFill>
                <a:latin typeface="+mj-lt"/>
                <a:sym typeface="PT Serif"/>
              </a:rPr>
              <a:t> 2016363</a:t>
            </a:r>
            <a:endParaRPr lang="en-US" sz="2800" dirty="0">
              <a:latin typeface="+mj-lt"/>
            </a:endParaRPr>
          </a:p>
        </p:txBody>
      </p:sp>
      <p:sp>
        <p:nvSpPr>
          <p:cNvPr id="50" name="Google Shape;50;p10"/>
          <p:cNvSpPr txBox="1"/>
          <p:nvPr/>
        </p:nvSpPr>
        <p:spPr>
          <a:xfrm>
            <a:off x="1028700" y="1314298"/>
            <a:ext cx="9245400" cy="3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19" b="0" i="0" u="none" strike="noStrike" cap="none" dirty="0" err="1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AresGuard</a:t>
            </a:r>
            <a:r>
              <a:rPr lang="en-US" sz="7719" b="0" i="0" u="none" strike="noStrike" cap="none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: Mission Control System</a:t>
            </a:r>
            <a:endParaRPr lang="en-US" dirty="0"/>
          </a:p>
        </p:txBody>
      </p:sp>
      <p:sp>
        <p:nvSpPr>
          <p:cNvPr id="51" name="Google Shape;51;p10"/>
          <p:cNvSpPr txBox="1"/>
          <p:nvPr/>
        </p:nvSpPr>
        <p:spPr>
          <a:xfrm>
            <a:off x="1028700" y="5477961"/>
            <a:ext cx="7943850" cy="56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 dirty="0">
                <a:solidFill>
                  <a:srgbClr val="71CBEF"/>
                </a:solidFill>
                <a:latin typeface="Noto Sans"/>
                <a:ea typeface="Noto Sans"/>
                <a:cs typeface="Noto Sans"/>
                <a:sym typeface="Noto Sans"/>
              </a:rPr>
              <a:t>Distributed Automation Platform for Mars Habitat</a:t>
            </a:r>
            <a:endParaRPr lang="en-US" sz="2600" dirty="0"/>
          </a:p>
        </p:txBody>
      </p:sp>
      <p:sp>
        <p:nvSpPr>
          <p:cNvPr id="2" name="Google Shape;51;p10">
            <a:extLst>
              <a:ext uri="{FF2B5EF4-FFF2-40B4-BE49-F238E27FC236}">
                <a16:creationId xmlns:a16="http://schemas.microsoft.com/office/drawing/2014/main" id="{206CD8BD-663E-1A01-D84D-F350A1366986}"/>
              </a:ext>
            </a:extLst>
          </p:cNvPr>
          <p:cNvSpPr txBox="1"/>
          <p:nvPr/>
        </p:nvSpPr>
        <p:spPr>
          <a:xfrm>
            <a:off x="1028700" y="7910980"/>
            <a:ext cx="794385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71CBEF"/>
                </a:solidFill>
                <a:latin typeface="Noto Sans"/>
                <a:ea typeface="Noto Sans"/>
                <a:cs typeface="Noto Sans"/>
                <a:sym typeface="Noto Sans"/>
              </a:rPr>
              <a:t>Laboratory of Advanced Programming </a:t>
            </a:r>
          </a:p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71CBEF"/>
                </a:solidFill>
                <a:latin typeface="Noto Sans"/>
                <a:ea typeface="Noto Sans"/>
                <a:cs typeface="Noto Sans"/>
                <a:sym typeface="Noto Sans"/>
              </a:rPr>
              <a:t>(</a:t>
            </a:r>
            <a:r>
              <a:rPr lang="en-US" sz="2400" dirty="0" err="1">
                <a:solidFill>
                  <a:srgbClr val="71CBEF"/>
                </a:solidFill>
                <a:latin typeface="Noto Sans"/>
                <a:ea typeface="Noto Sans"/>
                <a:cs typeface="Noto Sans"/>
                <a:sym typeface="Noto Sans"/>
              </a:rPr>
              <a:t>H</a:t>
            </a:r>
            <a:r>
              <a:rPr lang="en-US" sz="2400" b="0" i="0" u="none" strike="noStrike" cap="none" dirty="0" err="1">
                <a:solidFill>
                  <a:srgbClr val="71CBEF"/>
                </a:solidFill>
                <a:latin typeface="Noto Sans"/>
                <a:ea typeface="Noto Sans"/>
                <a:cs typeface="Noto Sans"/>
                <a:sym typeface="Noto Sans"/>
              </a:rPr>
              <a:t>ackaton</a:t>
            </a:r>
            <a:r>
              <a:rPr lang="en-US" sz="2400" b="0" i="0" u="none" strike="noStrike" cap="none" dirty="0">
                <a:solidFill>
                  <a:srgbClr val="71CBEF"/>
                </a:solidFill>
                <a:latin typeface="Noto Sans"/>
                <a:ea typeface="Noto Sans"/>
                <a:cs typeface="Noto Sans"/>
                <a:sym typeface="Noto Sans"/>
              </a:rPr>
              <a:t>: March 2026)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11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8" name="Google Shape;58;p11"/>
            <p:cNvSpPr/>
            <p:nvPr/>
          </p:nvSpPr>
          <p:spPr>
            <a:xfrm rot="5400000">
              <a:off x="8503696" y="-8503696"/>
              <a:ext cx="7376608" cy="24384000"/>
            </a:xfrm>
            <a:custGeom>
              <a:avLst/>
              <a:gdLst/>
              <a:ahLst/>
              <a:cxnLst/>
              <a:rect l="l" t="t" r="r" b="b"/>
              <a:pathLst>
                <a:path w="7376608" h="24384000" extrusionOk="0">
                  <a:moveTo>
                    <a:pt x="0" y="0"/>
                  </a:moveTo>
                  <a:lnTo>
                    <a:pt x="7376608" y="0"/>
                  </a:lnTo>
                  <a:lnTo>
                    <a:pt x="7376608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5548" r="-205007"/>
              </a:stretch>
            </a:blipFill>
            <a:ln>
              <a:noFill/>
            </a:ln>
          </p:spPr>
        </p:sp>
        <p:sp>
          <p:nvSpPr>
            <p:cNvPr id="59" name="Google Shape;59;p11"/>
            <p:cNvSpPr/>
            <p:nvPr/>
          </p:nvSpPr>
          <p:spPr>
            <a:xfrm rot="5400000" flipH="1">
              <a:off x="9022304" y="-1645696"/>
              <a:ext cx="6339392" cy="24384000"/>
            </a:xfrm>
            <a:custGeom>
              <a:avLst/>
              <a:gdLst/>
              <a:ahLst/>
              <a:cxnLst/>
              <a:rect l="l" t="t" r="r" b="b"/>
              <a:pathLst>
                <a:path w="6339392" h="24384000" extrusionOk="0">
                  <a:moveTo>
                    <a:pt x="0" y="24384000"/>
                  </a:moveTo>
                  <a:lnTo>
                    <a:pt x="6339392" y="24384000"/>
                  </a:lnTo>
                  <a:lnTo>
                    <a:pt x="6339392" y="0"/>
                  </a:lnTo>
                  <a:lnTo>
                    <a:pt x="0" y="0"/>
                  </a:lnTo>
                  <a:lnTo>
                    <a:pt x="0" y="2438400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9726" r="-254888"/>
              </a:stretch>
            </a:blipFill>
            <a:ln>
              <a:noFill/>
            </a:ln>
          </p:spPr>
        </p:sp>
      </p:grpSp>
      <p:grpSp>
        <p:nvGrpSpPr>
          <p:cNvPr id="60" name="Google Shape;60;p11"/>
          <p:cNvGrpSpPr/>
          <p:nvPr/>
        </p:nvGrpSpPr>
        <p:grpSpPr>
          <a:xfrm>
            <a:off x="758458" y="756496"/>
            <a:ext cx="16771083" cy="8774008"/>
            <a:chOff x="0" y="-47625"/>
            <a:chExt cx="4417075" cy="2310850"/>
          </a:xfrm>
        </p:grpSpPr>
        <p:sp>
          <p:nvSpPr>
            <p:cNvPr id="61" name="Google Shape;61;p11"/>
            <p:cNvSpPr/>
            <p:nvPr/>
          </p:nvSpPr>
          <p:spPr>
            <a:xfrm>
              <a:off x="0" y="0"/>
              <a:ext cx="4417075" cy="2263225"/>
            </a:xfrm>
            <a:custGeom>
              <a:avLst/>
              <a:gdLst/>
              <a:ahLst/>
              <a:cxnLst/>
              <a:rect l="l" t="t" r="r" b="b"/>
              <a:pathLst>
                <a:path w="4417075" h="2263225" extrusionOk="0">
                  <a:moveTo>
                    <a:pt x="0" y="0"/>
                  </a:moveTo>
                  <a:lnTo>
                    <a:pt x="4417075" y="0"/>
                  </a:lnTo>
                  <a:lnTo>
                    <a:pt x="4417075" y="2263225"/>
                  </a:lnTo>
                  <a:lnTo>
                    <a:pt x="0" y="2263225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62" name="Google Shape;62;p11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p11"/>
          <p:cNvSpPr txBox="1"/>
          <p:nvPr/>
        </p:nvSpPr>
        <p:spPr>
          <a:xfrm>
            <a:off x="7260050" y="4239957"/>
            <a:ext cx="4035502" cy="450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5108" marR="0" lvl="1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</a:pPr>
            <a:r>
              <a:rPr lang="it-IT" sz="1900" b="1" dirty="0">
                <a:solidFill>
                  <a:schemeClr val="bg1"/>
                </a:solidFill>
              </a:rPr>
              <a:t>SYSTEM FRAGMENTATION</a:t>
            </a:r>
          </a:p>
          <a:p>
            <a:pPr marL="205108" marR="0" lvl="1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</a:pPr>
            <a:endParaRPr lang="it-IT" sz="1900" dirty="0">
              <a:solidFill>
                <a:schemeClr val="bg1"/>
              </a:solidFill>
            </a:endParaRPr>
          </a:p>
          <a:p>
            <a:pPr marL="205108" marR="0" lvl="1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</a:pPr>
            <a:r>
              <a:rPr lang="it-IT" sz="1900" dirty="0" err="1">
                <a:solidFill>
                  <a:schemeClr val="bg1"/>
                </a:solidFill>
              </a:rPr>
              <a:t>Sensors</a:t>
            </a:r>
            <a:r>
              <a:rPr lang="it-IT" sz="1900" dirty="0">
                <a:solidFill>
                  <a:schemeClr val="bg1"/>
                </a:solidFill>
              </a:rPr>
              <a:t> </a:t>
            </a:r>
            <a:r>
              <a:rPr lang="it-IT" sz="1900" dirty="0" err="1">
                <a:solidFill>
                  <a:schemeClr val="bg1"/>
                </a:solidFill>
              </a:rPr>
              <a:t>communicate</a:t>
            </a:r>
            <a:r>
              <a:rPr lang="it-IT" sz="1900" dirty="0">
                <a:solidFill>
                  <a:schemeClr val="bg1"/>
                </a:solidFill>
              </a:rPr>
              <a:t> </a:t>
            </a:r>
            <a:r>
              <a:rPr lang="it-IT" sz="1900" dirty="0" err="1">
                <a:solidFill>
                  <a:schemeClr val="bg1"/>
                </a:solidFill>
              </a:rPr>
              <a:t>using</a:t>
            </a:r>
            <a:r>
              <a:rPr lang="it-IT" sz="1900" dirty="0">
                <a:solidFill>
                  <a:schemeClr val="bg1"/>
                </a:solidFill>
              </a:rPr>
              <a:t> </a:t>
            </a:r>
            <a:r>
              <a:rPr lang="it-IT" sz="1900" dirty="0" err="1">
                <a:solidFill>
                  <a:schemeClr val="tx2"/>
                </a:solidFill>
              </a:rPr>
              <a:t>incompatible</a:t>
            </a:r>
            <a:r>
              <a:rPr lang="it-IT" sz="1900" dirty="0">
                <a:solidFill>
                  <a:schemeClr val="tx2"/>
                </a:solidFill>
              </a:rPr>
              <a:t> </a:t>
            </a:r>
            <a:r>
              <a:rPr lang="it-IT" sz="1900" dirty="0" err="1">
                <a:solidFill>
                  <a:schemeClr val="tx2"/>
                </a:solidFill>
              </a:rPr>
              <a:t>dialects</a:t>
            </a:r>
            <a:r>
              <a:rPr lang="it-IT" sz="1900" dirty="0">
                <a:solidFill>
                  <a:schemeClr val="tx2"/>
                </a:solidFill>
              </a:rPr>
              <a:t> </a:t>
            </a:r>
            <a:r>
              <a:rPr lang="it-IT" sz="1900" dirty="0">
                <a:solidFill>
                  <a:schemeClr val="bg1"/>
                </a:solidFill>
              </a:rPr>
              <a:t>(</a:t>
            </a:r>
            <a:r>
              <a:rPr lang="it-IT" sz="1900" dirty="0" err="1">
                <a:solidFill>
                  <a:schemeClr val="bg1"/>
                </a:solidFill>
              </a:rPr>
              <a:t>rest.scalar</a:t>
            </a:r>
            <a:r>
              <a:rPr lang="it-IT" sz="1900" dirty="0">
                <a:solidFill>
                  <a:schemeClr val="bg1"/>
                </a:solidFill>
              </a:rPr>
              <a:t>, </a:t>
            </a:r>
            <a:r>
              <a:rPr lang="it-IT" sz="1900" dirty="0" err="1">
                <a:solidFill>
                  <a:schemeClr val="bg1"/>
                </a:solidFill>
              </a:rPr>
              <a:t>rest.chemistry</a:t>
            </a:r>
            <a:r>
              <a:rPr lang="it-IT" sz="1900" dirty="0">
                <a:solidFill>
                  <a:schemeClr val="bg1"/>
                </a:solidFill>
              </a:rPr>
              <a:t>). Critical data </a:t>
            </a:r>
            <a:r>
              <a:rPr lang="it-IT" sz="1900" dirty="0" err="1">
                <a:solidFill>
                  <a:schemeClr val="bg1"/>
                </a:solidFill>
              </a:rPr>
              <a:t>is</a:t>
            </a:r>
            <a:r>
              <a:rPr lang="it-IT" sz="1900" dirty="0">
                <a:solidFill>
                  <a:schemeClr val="bg1"/>
                </a:solidFill>
              </a:rPr>
              <a:t> </a:t>
            </a:r>
            <a:r>
              <a:rPr lang="it-IT" sz="1900" u="sng" dirty="0" err="1">
                <a:solidFill>
                  <a:schemeClr val="bg1"/>
                </a:solidFill>
              </a:rPr>
              <a:t>fragmented</a:t>
            </a:r>
            <a:r>
              <a:rPr lang="it-IT" sz="1900" dirty="0">
                <a:solidFill>
                  <a:schemeClr val="bg1"/>
                </a:solidFill>
              </a:rPr>
              <a:t> and </a:t>
            </a:r>
            <a:r>
              <a:rPr lang="it-IT" sz="1900" dirty="0" err="1">
                <a:solidFill>
                  <a:schemeClr val="bg1"/>
                </a:solidFill>
              </a:rPr>
              <a:t>requires</a:t>
            </a:r>
            <a:r>
              <a:rPr lang="it-IT" sz="1900" dirty="0">
                <a:solidFill>
                  <a:schemeClr val="bg1"/>
                </a:solidFill>
              </a:rPr>
              <a:t> </a:t>
            </a:r>
            <a:r>
              <a:rPr lang="it-IT" sz="1900" dirty="0" err="1">
                <a:solidFill>
                  <a:schemeClr val="bg1"/>
                </a:solidFill>
              </a:rPr>
              <a:t>continuous</a:t>
            </a:r>
            <a:r>
              <a:rPr lang="it-IT" sz="1900" dirty="0">
                <a:solidFill>
                  <a:schemeClr val="bg1"/>
                </a:solidFill>
              </a:rPr>
              <a:t> </a:t>
            </a:r>
            <a:r>
              <a:rPr lang="it-IT" sz="1900" dirty="0" err="1">
                <a:solidFill>
                  <a:schemeClr val="bg1"/>
                </a:solidFill>
              </a:rPr>
              <a:t>manual</a:t>
            </a:r>
            <a:r>
              <a:rPr lang="it-IT" sz="1900" dirty="0">
                <a:solidFill>
                  <a:schemeClr val="bg1"/>
                </a:solidFill>
              </a:rPr>
              <a:t> polling. </a:t>
            </a:r>
            <a:r>
              <a:rPr lang="it-IT" sz="1900" dirty="0" err="1">
                <a:solidFill>
                  <a:schemeClr val="bg1"/>
                </a:solidFill>
              </a:rPr>
              <a:t>There</a:t>
            </a:r>
            <a:r>
              <a:rPr lang="it-IT" sz="1900" dirty="0">
                <a:solidFill>
                  <a:schemeClr val="bg1"/>
                </a:solidFill>
              </a:rPr>
              <a:t> </a:t>
            </a:r>
            <a:r>
              <a:rPr lang="it-IT" sz="1900" dirty="0" err="1">
                <a:solidFill>
                  <a:schemeClr val="bg1"/>
                </a:solidFill>
              </a:rPr>
              <a:t>is</a:t>
            </a:r>
            <a:r>
              <a:rPr lang="it-IT" sz="1900" dirty="0">
                <a:solidFill>
                  <a:schemeClr val="bg1"/>
                </a:solidFill>
              </a:rPr>
              <a:t> no </a:t>
            </a:r>
            <a:r>
              <a:rPr lang="it-IT" sz="1900" dirty="0" err="1">
                <a:solidFill>
                  <a:schemeClr val="bg1"/>
                </a:solidFill>
              </a:rPr>
              <a:t>unified</a:t>
            </a:r>
            <a:r>
              <a:rPr lang="it-IT" sz="1900" dirty="0">
                <a:solidFill>
                  <a:schemeClr val="bg1"/>
                </a:solidFill>
              </a:rPr>
              <a:t> </a:t>
            </a:r>
            <a:r>
              <a:rPr lang="it-IT" sz="1900" dirty="0" err="1">
                <a:solidFill>
                  <a:schemeClr val="bg1"/>
                </a:solidFill>
              </a:rPr>
              <a:t>visualization</a:t>
            </a:r>
            <a:r>
              <a:rPr lang="it-IT" sz="1900" dirty="0">
                <a:solidFill>
                  <a:schemeClr val="bg1"/>
                </a:solidFill>
              </a:rPr>
              <a:t> for </a:t>
            </a:r>
            <a:r>
              <a:rPr lang="it-IT" sz="1900" dirty="0" err="1">
                <a:solidFill>
                  <a:schemeClr val="bg1"/>
                </a:solidFill>
              </a:rPr>
              <a:t>vital</a:t>
            </a:r>
            <a:r>
              <a:rPr lang="it-IT" sz="1900" dirty="0">
                <a:solidFill>
                  <a:schemeClr val="bg1"/>
                </a:solidFill>
              </a:rPr>
              <a:t> </a:t>
            </a:r>
            <a:r>
              <a:rPr lang="it-IT" sz="1900" dirty="0" err="1">
                <a:solidFill>
                  <a:schemeClr val="bg1"/>
                </a:solidFill>
              </a:rPr>
              <a:t>signs</a:t>
            </a:r>
            <a:r>
              <a:rPr lang="it-IT" sz="1900" dirty="0">
                <a:solidFill>
                  <a:schemeClr val="bg1"/>
                </a:solidFill>
              </a:rPr>
              <a:t>. </a:t>
            </a:r>
            <a:r>
              <a:rPr lang="it-IT" sz="1900" dirty="0" err="1">
                <a:solidFill>
                  <a:schemeClr val="bg1"/>
                </a:solidFill>
              </a:rPr>
              <a:t>Automated</a:t>
            </a:r>
            <a:r>
              <a:rPr lang="it-IT" sz="1900" dirty="0">
                <a:solidFill>
                  <a:schemeClr val="bg1"/>
                </a:solidFill>
              </a:rPr>
              <a:t> </a:t>
            </a:r>
            <a:r>
              <a:rPr lang="it-IT" sz="1900" dirty="0" err="1">
                <a:solidFill>
                  <a:schemeClr val="bg1"/>
                </a:solidFill>
              </a:rPr>
              <a:t>safety</a:t>
            </a:r>
            <a:r>
              <a:rPr lang="it-IT" sz="1900" dirty="0">
                <a:solidFill>
                  <a:schemeClr val="bg1"/>
                </a:solidFill>
              </a:rPr>
              <a:t> </a:t>
            </a:r>
            <a:r>
              <a:rPr lang="it-IT" sz="1900" dirty="0" err="1">
                <a:solidFill>
                  <a:schemeClr val="bg1"/>
                </a:solidFill>
              </a:rPr>
              <a:t>protocols</a:t>
            </a:r>
            <a:r>
              <a:rPr lang="it-IT" sz="1900" dirty="0">
                <a:solidFill>
                  <a:schemeClr val="bg1"/>
                </a:solidFill>
              </a:rPr>
              <a:t> are offline or non-</a:t>
            </a:r>
            <a:r>
              <a:rPr lang="it-IT" sz="1900" dirty="0" err="1">
                <a:solidFill>
                  <a:schemeClr val="bg1"/>
                </a:solidFill>
              </a:rPr>
              <a:t>existent</a:t>
            </a:r>
            <a:r>
              <a:rPr lang="it-IT" sz="1900" dirty="0">
                <a:solidFill>
                  <a:schemeClr val="bg1"/>
                </a:solidFill>
              </a:rPr>
              <a:t>.</a:t>
            </a:r>
          </a:p>
          <a:p>
            <a:pPr marL="205108" marR="0" lvl="1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</a:pPr>
            <a:endParaRPr sz="1900" dirty="0">
              <a:solidFill>
                <a:schemeClr val="bg1"/>
              </a:solidFill>
            </a:endParaRPr>
          </a:p>
        </p:txBody>
      </p:sp>
      <p:sp>
        <p:nvSpPr>
          <p:cNvPr id="64" name="Google Shape;64;p11"/>
          <p:cNvSpPr txBox="1"/>
          <p:nvPr/>
        </p:nvSpPr>
        <p:spPr>
          <a:xfrm>
            <a:off x="1708829" y="1153857"/>
            <a:ext cx="14870342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MISSION BRIEFING</a:t>
            </a:r>
            <a:endParaRPr lang="en-US" sz="6000" dirty="0"/>
          </a:p>
        </p:txBody>
      </p:sp>
      <p:sp>
        <p:nvSpPr>
          <p:cNvPr id="65" name="Google Shape;65;p11"/>
          <p:cNvSpPr txBox="1"/>
          <p:nvPr/>
        </p:nvSpPr>
        <p:spPr>
          <a:xfrm>
            <a:off x="1658316" y="4239957"/>
            <a:ext cx="4414269" cy="4804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5108" marR="0" lvl="1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</a:pPr>
            <a:r>
              <a:rPr lang="en-US" sz="19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HOSTILE ENVIRONMENT</a:t>
            </a:r>
          </a:p>
          <a:p>
            <a:pPr marL="205108" marR="0" lvl="1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</a:pPr>
            <a:endParaRPr lang="en-US" sz="1900" dirty="0">
              <a:solidFill>
                <a:srgbClr val="FFFFFF"/>
              </a:solidFill>
            </a:endParaRPr>
          </a:p>
          <a:p>
            <a:pPr marL="205108" marR="0" lvl="1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</a:pPr>
            <a:r>
              <a:rPr lang="en-US" sz="1900" dirty="0">
                <a:solidFill>
                  <a:srgbClr val="FFFFFF"/>
                </a:solidFill>
              </a:rPr>
              <a:t>The year is 2036. You have been deployed to Mars Operations at </a:t>
            </a:r>
            <a:r>
              <a:rPr lang="en-US" sz="1900" dirty="0" err="1">
                <a:solidFill>
                  <a:srgbClr val="FFFFFF"/>
                </a:solidFill>
              </a:rPr>
              <a:t>SpaceY</a:t>
            </a:r>
            <a:r>
              <a:rPr lang="en-US" sz="1900" dirty="0">
                <a:solidFill>
                  <a:srgbClr val="FFFFFF"/>
                </a:solidFill>
              </a:rPr>
              <a:t>. The habitat's automation stack is partially destroyed and </a:t>
            </a:r>
            <a:r>
              <a:rPr lang="en-US" sz="1900" dirty="0" err="1">
                <a:solidFill>
                  <a:srgbClr val="FFFFFF"/>
                </a:solidFill>
              </a:rPr>
              <a:t>unstable.Life</a:t>
            </a:r>
            <a:r>
              <a:rPr lang="en-US" sz="1900" dirty="0">
                <a:solidFill>
                  <a:srgbClr val="FFFFFF"/>
                </a:solidFill>
              </a:rPr>
              <a:t>-support relies on manual polling of heterogeneous sensors. Without intervention, the crew faces a thermodynamic collapse.</a:t>
            </a:r>
          </a:p>
          <a:p>
            <a:pPr marL="205108" marR="0" lvl="1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</a:pPr>
            <a:endParaRPr lang="en-US" sz="1900" dirty="0">
              <a:solidFill>
                <a:srgbClr val="FFFFFF"/>
              </a:solidFill>
            </a:endParaRPr>
          </a:p>
          <a:p>
            <a:pPr marL="205108" marR="0" lvl="1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</a:pPr>
            <a:endParaRPr dirty="0"/>
          </a:p>
        </p:txBody>
      </p:sp>
      <p:sp>
        <p:nvSpPr>
          <p:cNvPr id="66" name="Google Shape;66;p11"/>
          <p:cNvSpPr txBox="1"/>
          <p:nvPr/>
        </p:nvSpPr>
        <p:spPr>
          <a:xfrm>
            <a:off x="1779008" y="3273000"/>
            <a:ext cx="5141301" cy="700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 dirty="0">
                <a:solidFill>
                  <a:srgbClr val="71CBEF"/>
                </a:solidFill>
                <a:latin typeface="Noto Sans"/>
                <a:ea typeface="Noto Sans"/>
                <a:cs typeface="Noto Sans"/>
                <a:sym typeface="Noto Sans"/>
              </a:rPr>
              <a:t>THE CONTEXT</a:t>
            </a:r>
            <a:endParaRPr lang="en-US" dirty="0"/>
          </a:p>
        </p:txBody>
      </p:sp>
      <p:sp>
        <p:nvSpPr>
          <p:cNvPr id="67" name="Google Shape;67;p11"/>
          <p:cNvSpPr txBox="1"/>
          <p:nvPr/>
        </p:nvSpPr>
        <p:spPr>
          <a:xfrm>
            <a:off x="7452339" y="3273000"/>
            <a:ext cx="5141301" cy="700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 dirty="0">
                <a:solidFill>
                  <a:srgbClr val="71CBEF"/>
                </a:solidFill>
                <a:latin typeface="Noto Sans"/>
                <a:ea typeface="Noto Sans"/>
                <a:cs typeface="Noto Sans"/>
                <a:sym typeface="Noto Sans"/>
              </a:rPr>
              <a:t>THE CHALLENGE</a:t>
            </a:r>
            <a:endParaRPr lang="en-US" dirty="0"/>
          </a:p>
        </p:txBody>
      </p:sp>
      <p:sp>
        <p:nvSpPr>
          <p:cNvPr id="68" name="Google Shape;68;p11"/>
          <p:cNvSpPr txBox="1"/>
          <p:nvPr/>
        </p:nvSpPr>
        <p:spPr>
          <a:xfrm>
            <a:off x="12675307" y="4239956"/>
            <a:ext cx="4255947" cy="450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5108" marR="0" lvl="1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</a:pPr>
            <a:r>
              <a:rPr lang="it-IT" sz="1900" b="1" dirty="0">
                <a:solidFill>
                  <a:schemeClr val="bg1"/>
                </a:solidFill>
              </a:rPr>
              <a:t>SOLUTION: ARESGUARD</a:t>
            </a:r>
          </a:p>
          <a:p>
            <a:pPr marL="205108" marR="0" lvl="1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</a:pPr>
            <a:endParaRPr lang="it-IT" sz="1900" dirty="0">
              <a:solidFill>
                <a:schemeClr val="bg1"/>
              </a:solidFill>
            </a:endParaRPr>
          </a:p>
          <a:p>
            <a:pPr marL="205108" marR="0" lvl="1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</a:pPr>
            <a:r>
              <a:rPr lang="it-IT" sz="1900" dirty="0">
                <a:solidFill>
                  <a:schemeClr val="bg1"/>
                </a:solidFill>
              </a:rPr>
              <a:t>Design and </a:t>
            </a:r>
            <a:r>
              <a:rPr lang="it-IT" sz="1900" dirty="0" err="1">
                <a:solidFill>
                  <a:schemeClr val="bg1"/>
                </a:solidFill>
              </a:rPr>
              <a:t>deploy</a:t>
            </a:r>
            <a:r>
              <a:rPr lang="it-IT" sz="1900" dirty="0">
                <a:solidFill>
                  <a:schemeClr val="bg1"/>
                </a:solidFill>
              </a:rPr>
              <a:t> a </a:t>
            </a:r>
            <a:r>
              <a:rPr lang="it-IT" sz="1900" dirty="0" err="1">
                <a:solidFill>
                  <a:schemeClr val="bg1"/>
                </a:solidFill>
              </a:rPr>
              <a:t>distributed</a:t>
            </a:r>
            <a:r>
              <a:rPr lang="it-IT" sz="1900" dirty="0">
                <a:solidFill>
                  <a:schemeClr val="bg1"/>
                </a:solidFill>
              </a:rPr>
              <a:t> </a:t>
            </a:r>
            <a:r>
              <a:rPr lang="it-IT" sz="1900" dirty="0" err="1">
                <a:solidFill>
                  <a:schemeClr val="bg1"/>
                </a:solidFill>
              </a:rPr>
              <a:t>automation</a:t>
            </a:r>
            <a:r>
              <a:rPr lang="it-IT" sz="1900" dirty="0">
                <a:solidFill>
                  <a:schemeClr val="bg1"/>
                </a:solidFill>
              </a:rPr>
              <a:t> </a:t>
            </a:r>
            <a:r>
              <a:rPr lang="it-IT" sz="1900" dirty="0" err="1">
                <a:solidFill>
                  <a:schemeClr val="bg1"/>
                </a:solidFill>
              </a:rPr>
              <a:t>platform</a:t>
            </a:r>
            <a:r>
              <a:rPr lang="it-IT" sz="1900" dirty="0">
                <a:solidFill>
                  <a:schemeClr val="bg1"/>
                </a:solidFill>
              </a:rPr>
              <a:t>. </a:t>
            </a:r>
            <a:r>
              <a:rPr lang="it-IT" sz="1900" dirty="0" err="1">
                <a:solidFill>
                  <a:schemeClr val="bg1"/>
                </a:solidFill>
              </a:rPr>
              <a:t>Ingest</a:t>
            </a:r>
            <a:r>
              <a:rPr lang="it-IT" sz="1900" dirty="0">
                <a:solidFill>
                  <a:schemeClr val="bg1"/>
                </a:solidFill>
              </a:rPr>
              <a:t> data from </a:t>
            </a:r>
            <a:r>
              <a:rPr lang="it-IT" sz="1900" dirty="0" err="1">
                <a:solidFill>
                  <a:schemeClr val="bg1"/>
                </a:solidFill>
              </a:rPr>
              <a:t>all</a:t>
            </a:r>
            <a:r>
              <a:rPr lang="it-IT" sz="1900" dirty="0">
                <a:solidFill>
                  <a:schemeClr val="bg1"/>
                </a:solidFill>
              </a:rPr>
              <a:t> legacy </a:t>
            </a:r>
            <a:r>
              <a:rPr lang="it-IT" sz="1900" dirty="0">
                <a:solidFill>
                  <a:schemeClr val="tx2"/>
                </a:solidFill>
              </a:rPr>
              <a:t>REST</a:t>
            </a:r>
            <a:r>
              <a:rPr lang="it-IT" sz="1900" dirty="0">
                <a:solidFill>
                  <a:schemeClr val="bg1"/>
                </a:solidFill>
              </a:rPr>
              <a:t> devices. </a:t>
            </a:r>
            <a:r>
              <a:rPr lang="it-IT" sz="1900" dirty="0" err="1">
                <a:solidFill>
                  <a:schemeClr val="bg1"/>
                </a:solidFill>
              </a:rPr>
              <a:t>Normalize</a:t>
            </a:r>
            <a:r>
              <a:rPr lang="it-IT" sz="1900" dirty="0">
                <a:solidFill>
                  <a:schemeClr val="bg1"/>
                </a:solidFill>
              </a:rPr>
              <a:t> payloads </a:t>
            </a:r>
            <a:r>
              <a:rPr lang="it-IT" sz="1900" dirty="0" err="1">
                <a:solidFill>
                  <a:schemeClr val="bg1"/>
                </a:solidFill>
              </a:rPr>
              <a:t>into</a:t>
            </a:r>
            <a:r>
              <a:rPr lang="it-IT" sz="1900" dirty="0">
                <a:solidFill>
                  <a:schemeClr val="bg1"/>
                </a:solidFill>
              </a:rPr>
              <a:t> a </a:t>
            </a:r>
            <a:r>
              <a:rPr lang="it-IT" sz="1900" dirty="0" err="1">
                <a:solidFill>
                  <a:schemeClr val="tx2"/>
                </a:solidFill>
              </a:rPr>
              <a:t>Unified</a:t>
            </a:r>
            <a:r>
              <a:rPr lang="it-IT" sz="1900" dirty="0">
                <a:solidFill>
                  <a:schemeClr val="tx2"/>
                </a:solidFill>
              </a:rPr>
              <a:t> Event Schema</a:t>
            </a:r>
            <a:r>
              <a:rPr lang="it-IT" sz="1900" dirty="0">
                <a:solidFill>
                  <a:schemeClr val="bg1"/>
                </a:solidFill>
              </a:rPr>
              <a:t>. </a:t>
            </a:r>
            <a:r>
              <a:rPr lang="it-IT" sz="1900" dirty="0" err="1">
                <a:solidFill>
                  <a:schemeClr val="bg1"/>
                </a:solidFill>
              </a:rPr>
              <a:t>Automate</a:t>
            </a:r>
            <a:r>
              <a:rPr lang="it-IT" sz="1900" dirty="0">
                <a:solidFill>
                  <a:schemeClr val="bg1"/>
                </a:solidFill>
              </a:rPr>
              <a:t> </a:t>
            </a:r>
            <a:r>
              <a:rPr lang="it-IT" sz="1900" dirty="0" err="1">
                <a:solidFill>
                  <a:schemeClr val="bg1"/>
                </a:solidFill>
              </a:rPr>
              <a:t>critical</a:t>
            </a:r>
            <a:r>
              <a:rPr lang="it-IT" sz="1900" dirty="0">
                <a:solidFill>
                  <a:schemeClr val="bg1"/>
                </a:solidFill>
              </a:rPr>
              <a:t> </a:t>
            </a:r>
            <a:r>
              <a:rPr lang="it-IT" sz="1900" dirty="0" err="1">
                <a:solidFill>
                  <a:schemeClr val="bg1"/>
                </a:solidFill>
              </a:rPr>
              <a:t>responses</a:t>
            </a:r>
            <a:r>
              <a:rPr lang="it-IT" sz="1900" dirty="0">
                <a:solidFill>
                  <a:schemeClr val="bg1"/>
                </a:solidFill>
              </a:rPr>
              <a:t> via a </a:t>
            </a:r>
            <a:r>
              <a:rPr lang="it-IT" sz="1900" dirty="0" err="1">
                <a:solidFill>
                  <a:schemeClr val="bg1"/>
                </a:solidFill>
              </a:rPr>
              <a:t>persistent</a:t>
            </a:r>
            <a:r>
              <a:rPr lang="it-IT" sz="1900" dirty="0">
                <a:solidFill>
                  <a:schemeClr val="bg1"/>
                </a:solidFill>
              </a:rPr>
              <a:t> </a:t>
            </a:r>
            <a:r>
              <a:rPr lang="it-IT" sz="1900" dirty="0">
                <a:solidFill>
                  <a:schemeClr val="tx2"/>
                </a:solidFill>
              </a:rPr>
              <a:t>Rule Engine</a:t>
            </a:r>
            <a:r>
              <a:rPr lang="it-IT" sz="1900" dirty="0">
                <a:solidFill>
                  <a:schemeClr val="bg1"/>
                </a:solidFill>
              </a:rPr>
              <a:t>. </a:t>
            </a:r>
            <a:r>
              <a:rPr lang="it-IT" sz="1900" dirty="0" err="1">
                <a:solidFill>
                  <a:schemeClr val="bg1"/>
                </a:solidFill>
              </a:rPr>
              <a:t>Visualize</a:t>
            </a:r>
            <a:r>
              <a:rPr lang="it-IT" sz="1900" dirty="0">
                <a:solidFill>
                  <a:schemeClr val="bg1"/>
                </a:solidFill>
              </a:rPr>
              <a:t> real-time status on a </a:t>
            </a:r>
            <a:r>
              <a:rPr lang="it-IT" sz="1900" dirty="0" err="1">
                <a:solidFill>
                  <a:schemeClr val="bg1"/>
                </a:solidFill>
              </a:rPr>
              <a:t>centralized</a:t>
            </a:r>
            <a:r>
              <a:rPr lang="it-IT" sz="1900" dirty="0">
                <a:solidFill>
                  <a:schemeClr val="bg1"/>
                </a:solidFill>
              </a:rPr>
              <a:t> Mission Control Dashboard.</a:t>
            </a:r>
            <a:endParaRPr sz="1900" dirty="0">
              <a:solidFill>
                <a:schemeClr val="bg1"/>
              </a:solidFill>
            </a:endParaRPr>
          </a:p>
        </p:txBody>
      </p:sp>
      <p:sp>
        <p:nvSpPr>
          <p:cNvPr id="69" name="Google Shape;69;p11"/>
          <p:cNvSpPr txBox="1"/>
          <p:nvPr/>
        </p:nvSpPr>
        <p:spPr>
          <a:xfrm>
            <a:off x="12791397" y="3273000"/>
            <a:ext cx="5141301" cy="700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 dirty="0">
                <a:solidFill>
                  <a:srgbClr val="71CBEF"/>
                </a:solidFill>
                <a:latin typeface="Noto Sans"/>
                <a:ea typeface="Noto Sans"/>
                <a:cs typeface="Noto Sans"/>
                <a:sym typeface="Noto Sans"/>
              </a:rPr>
              <a:t>THE </a:t>
            </a:r>
            <a:r>
              <a:rPr lang="en-US" sz="3500" b="1" i="0" u="none" strike="noStrike" cap="none" dirty="0">
                <a:solidFill>
                  <a:schemeClr val="tx2"/>
                </a:solidFill>
                <a:latin typeface="Noto Sans"/>
                <a:ea typeface="Noto Sans"/>
                <a:cs typeface="Noto Sans"/>
                <a:sym typeface="Noto Sans"/>
              </a:rPr>
              <a:t>O</a:t>
            </a:r>
            <a:r>
              <a:rPr lang="en-US" sz="3500" b="1" i="0" u="none" strike="noStrike" cap="none" dirty="0">
                <a:solidFill>
                  <a:srgbClr val="71CBEF"/>
                </a:solidFill>
                <a:latin typeface="Noto Sans"/>
                <a:ea typeface="Noto Sans"/>
                <a:cs typeface="Noto Sans"/>
                <a:sym typeface="Noto Sans"/>
              </a:rPr>
              <a:t>BJECTIVE</a:t>
            </a:r>
            <a:endParaRPr lang="en-US" dirty="0"/>
          </a:p>
        </p:txBody>
      </p:sp>
      <p:cxnSp>
        <p:nvCxnSpPr>
          <p:cNvPr id="70" name="Google Shape;70;p11"/>
          <p:cNvCxnSpPr/>
          <p:nvPr/>
        </p:nvCxnSpPr>
        <p:spPr>
          <a:xfrm>
            <a:off x="6661764" y="3322365"/>
            <a:ext cx="19050" cy="5495514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1" name="Google Shape;71;p11"/>
          <p:cNvCxnSpPr/>
          <p:nvPr/>
        </p:nvCxnSpPr>
        <p:spPr>
          <a:xfrm>
            <a:off x="12316516" y="3322365"/>
            <a:ext cx="19050" cy="5495514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09282A3-9D96-BE1F-2F01-1C5ADC42479E}"/>
              </a:ext>
            </a:extLst>
          </p:cNvPr>
          <p:cNvSpPr txBox="1"/>
          <p:nvPr/>
        </p:nvSpPr>
        <p:spPr>
          <a:xfrm>
            <a:off x="758458" y="2221414"/>
            <a:ext cx="167710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FFFF"/>
                </a:solidFill>
                <a:latin typeface="Archivo Black"/>
                <a:sym typeface="Archivo Black"/>
              </a:rPr>
              <a:t>Scenario overview: Mars Habitat 2036</a:t>
            </a:r>
            <a:endParaRPr lang="it-IT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16"/>
          <p:cNvGrpSpPr/>
          <p:nvPr/>
        </p:nvGrpSpPr>
        <p:grpSpPr>
          <a:xfrm>
            <a:off x="782672" y="456465"/>
            <a:ext cx="16722656" cy="9178853"/>
            <a:chOff x="0" y="-47625"/>
            <a:chExt cx="4404321" cy="2215092"/>
          </a:xfrm>
        </p:grpSpPr>
        <p:sp>
          <p:nvSpPr>
            <p:cNvPr id="140" name="Google Shape;140;p16"/>
            <p:cNvSpPr/>
            <p:nvPr/>
          </p:nvSpPr>
          <p:spPr>
            <a:xfrm>
              <a:off x="0" y="0"/>
              <a:ext cx="4404321" cy="2167467"/>
            </a:xfrm>
            <a:custGeom>
              <a:avLst/>
              <a:gdLst/>
              <a:ahLst/>
              <a:cxnLst/>
              <a:rect l="l" t="t" r="r" b="b"/>
              <a:pathLst>
                <a:path w="4404321" h="2167467" extrusionOk="0">
                  <a:moveTo>
                    <a:pt x="0" y="0"/>
                  </a:moveTo>
                  <a:lnTo>
                    <a:pt x="4404321" y="0"/>
                  </a:lnTo>
                  <a:lnTo>
                    <a:pt x="4404321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71CBE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41" name="Google Shape;141;p16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2" name="Google Shape;142;p16"/>
          <p:cNvSpPr/>
          <p:nvPr/>
        </p:nvSpPr>
        <p:spPr>
          <a:xfrm>
            <a:off x="4592668" y="2648541"/>
            <a:ext cx="1607787" cy="1563848"/>
          </a:xfrm>
          <a:custGeom>
            <a:avLst/>
            <a:gdLst/>
            <a:ahLst/>
            <a:cxnLst/>
            <a:rect l="l" t="t" r="r" b="b"/>
            <a:pathLst>
              <a:path w="1943799" h="1943799" extrusionOk="0">
                <a:moveTo>
                  <a:pt x="0" y="0"/>
                </a:moveTo>
                <a:lnTo>
                  <a:pt x="1943799" y="0"/>
                </a:lnTo>
                <a:lnTo>
                  <a:pt x="1943799" y="1943799"/>
                </a:lnTo>
                <a:lnTo>
                  <a:pt x="0" y="19437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782672" y="901723"/>
            <a:ext cx="16712126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u="none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PROJECT SCOPE &amp; CORE ACHIEVEMENTS</a:t>
            </a:r>
            <a:endParaRPr lang="en-US" sz="5400" dirty="0"/>
          </a:p>
        </p:txBody>
      </p:sp>
      <p:grpSp>
        <p:nvGrpSpPr>
          <p:cNvPr id="144" name="Google Shape;144;p16"/>
          <p:cNvGrpSpPr/>
          <p:nvPr/>
        </p:nvGrpSpPr>
        <p:grpSpPr>
          <a:xfrm>
            <a:off x="3325361" y="4477013"/>
            <a:ext cx="5122603" cy="3805808"/>
            <a:chOff x="216281" y="0"/>
            <a:chExt cx="6689607" cy="4265375"/>
          </a:xfrm>
        </p:grpSpPr>
        <p:sp>
          <p:nvSpPr>
            <p:cNvPr id="145" name="Google Shape;145;p16"/>
            <p:cNvSpPr txBox="1"/>
            <p:nvPr/>
          </p:nvSpPr>
          <p:spPr>
            <a:xfrm>
              <a:off x="216281" y="0"/>
              <a:ext cx="6689607" cy="4139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u="none" dirty="0">
                  <a:solidFill>
                    <a:srgbClr val="71CBEF"/>
                  </a:solidFill>
                  <a:latin typeface="Arial"/>
                  <a:ea typeface="Arial"/>
                  <a:cs typeface="Arial"/>
                  <a:sym typeface="Arial"/>
                </a:rPr>
                <a:t>2-PERSON TEAM STRATEGY</a:t>
              </a:r>
              <a:endParaRPr lang="en-US" sz="2400" b="1" dirty="0"/>
            </a:p>
          </p:txBody>
        </p:sp>
        <p:sp>
          <p:nvSpPr>
            <p:cNvPr id="146" name="Google Shape;146;p16"/>
            <p:cNvSpPr txBox="1"/>
            <p:nvPr/>
          </p:nvSpPr>
          <p:spPr>
            <a:xfrm>
              <a:off x="216281" y="746968"/>
              <a:ext cx="6689607" cy="35184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85750" marR="0" lvl="0" indent="-2857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it-IT" sz="1600" b="1" dirty="0" err="1">
                  <a:solidFill>
                    <a:schemeClr val="tx2"/>
                  </a:solidFill>
                </a:rPr>
                <a:t>Configuration</a:t>
              </a:r>
              <a:r>
                <a:rPr lang="it-IT" sz="1600" dirty="0">
                  <a:solidFill>
                    <a:schemeClr val="bg1"/>
                  </a:solidFill>
                </a:rPr>
                <a:t>: </a:t>
              </a:r>
              <a:r>
                <a:rPr lang="en-US" sz="1600" dirty="0">
                  <a:solidFill>
                    <a:schemeClr val="bg1"/>
                  </a:solidFill>
                </a:rPr>
                <a:t>Optimized for a 2-Developer Team</a:t>
              </a:r>
            </a:p>
            <a:p>
              <a:pPr marL="285750" marR="0" lvl="0" indent="-2857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endParaRPr lang="en-US" sz="1600" dirty="0">
                <a:solidFill>
                  <a:schemeClr val="bg1"/>
                </a:solidFill>
              </a:endParaRPr>
            </a:p>
            <a:p>
              <a:pPr marL="285750" marR="0" lvl="0" indent="-2857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it-IT" sz="1600" b="1" dirty="0" err="1">
                  <a:solidFill>
                    <a:schemeClr val="tx2"/>
                  </a:solidFill>
                </a:rPr>
                <a:t>Ingestion</a:t>
              </a:r>
              <a:r>
                <a:rPr lang="it-IT" sz="1600" b="1" dirty="0">
                  <a:solidFill>
                    <a:schemeClr val="tx2"/>
                  </a:solidFill>
                </a:rPr>
                <a:t> </a:t>
              </a:r>
              <a:r>
                <a:rPr lang="it-IT" sz="1600" b="1" dirty="0" err="1">
                  <a:solidFill>
                    <a:schemeClr val="tx2"/>
                  </a:solidFill>
                </a:rPr>
                <a:t>Approach</a:t>
              </a:r>
              <a:r>
                <a:rPr lang="it-IT" sz="1600" dirty="0">
                  <a:solidFill>
                    <a:schemeClr val="bg1"/>
                  </a:solidFill>
                </a:rPr>
                <a:t>: </a:t>
              </a:r>
              <a:r>
                <a:rPr lang="en-US" sz="1600" dirty="0">
                  <a:solidFill>
                    <a:schemeClr val="bg1"/>
                  </a:solidFill>
                </a:rPr>
                <a:t>Robust REST Polling (5s interval)</a:t>
              </a:r>
            </a:p>
            <a:p>
              <a:pPr marR="0" lvl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</a:pPr>
              <a:r>
                <a:rPr lang="en-US" sz="1600" dirty="0">
                  <a:solidFill>
                    <a:schemeClr val="bg1"/>
                  </a:solidFill>
                </a:rPr>
                <a:t>	</a:t>
              </a:r>
            </a:p>
            <a:p>
              <a:pPr lvl="4">
                <a:buClr>
                  <a:schemeClr val="tx2"/>
                </a:buClr>
              </a:pPr>
              <a:r>
                <a:rPr lang="en-US" sz="1600" dirty="0">
                  <a:solidFill>
                    <a:schemeClr val="bg1"/>
                  </a:solidFill>
                </a:rPr>
                <a:t>	</a:t>
              </a:r>
              <a:r>
                <a:rPr lang="en-US" sz="1600" b="1" i="1" dirty="0">
                  <a:solidFill>
                    <a:schemeClr val="bg1"/>
                  </a:solidFill>
                </a:rPr>
                <a:t>Note: </a:t>
              </a:r>
              <a:r>
                <a:rPr lang="en-US" sz="1600" i="1" dirty="0">
                  <a:solidFill>
                    <a:schemeClr val="bg1"/>
                  </a:solidFill>
                </a:rPr>
                <a:t>Telemetry streaming omitted as per 	           mission guidelines.</a:t>
              </a:r>
            </a:p>
            <a:p>
              <a:pPr lvl="4">
                <a:buClr>
                  <a:schemeClr val="tx2"/>
                </a:buClr>
              </a:pPr>
              <a:endParaRPr lang="en-US" sz="1600" i="1" dirty="0">
                <a:solidFill>
                  <a:schemeClr val="bg1"/>
                </a:solidFill>
              </a:endParaRPr>
            </a:p>
            <a:p>
              <a:pPr marL="285750" lvl="4" indent="-28575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it-IT" sz="1600" b="1" i="1" dirty="0" err="1">
                  <a:solidFill>
                    <a:schemeClr val="tx2"/>
                  </a:solidFill>
                </a:rPr>
                <a:t>Primary</a:t>
              </a:r>
              <a:r>
                <a:rPr lang="it-IT" sz="1600" b="1" i="1" dirty="0">
                  <a:solidFill>
                    <a:schemeClr val="tx2"/>
                  </a:solidFill>
                </a:rPr>
                <a:t> Goal</a:t>
              </a:r>
              <a:r>
                <a:rPr lang="it-IT" sz="1600" i="1" dirty="0">
                  <a:solidFill>
                    <a:schemeClr val="bg1"/>
                  </a:solidFill>
                </a:rPr>
                <a:t>: </a:t>
              </a:r>
              <a:r>
                <a:rPr lang="en-US" sz="1600" i="1" dirty="0">
                  <a:solidFill>
                    <a:schemeClr val="bg1"/>
                  </a:solidFill>
                </a:rPr>
                <a:t>Maximize system resilience and data consistency over complexity</a:t>
              </a:r>
            </a:p>
            <a:p>
              <a:pPr marL="285750" lvl="4" indent="-28575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endParaRPr lang="en-US" sz="1600" i="1" dirty="0">
                <a:solidFill>
                  <a:schemeClr val="bg1"/>
                </a:solidFill>
              </a:endParaRPr>
            </a:p>
            <a:p>
              <a:pPr marL="285750" lvl="4" indent="-28575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it-IT" sz="1600" b="1" i="1" dirty="0" err="1">
                  <a:solidFill>
                    <a:schemeClr val="tx2"/>
                  </a:solidFill>
                </a:rPr>
                <a:t>Validation</a:t>
              </a:r>
              <a:r>
                <a:rPr lang="it-IT" sz="1600" i="1" dirty="0">
                  <a:solidFill>
                    <a:schemeClr val="bg1"/>
                  </a:solidFill>
                </a:rPr>
                <a:t>: </a:t>
              </a:r>
              <a:r>
                <a:rPr lang="en-US" sz="1600" i="1" dirty="0">
                  <a:solidFill>
                    <a:schemeClr val="tx2"/>
                  </a:solidFill>
                </a:rPr>
                <a:t>10 Core User Stories </a:t>
              </a:r>
              <a:r>
                <a:rPr lang="en-US" sz="1600" i="1" dirty="0">
                  <a:solidFill>
                    <a:schemeClr val="bg1"/>
                  </a:solidFill>
                </a:rPr>
                <a:t>fully implemented</a:t>
              </a:r>
              <a:endParaRPr lang="it-IT" sz="1600" i="1" dirty="0">
                <a:solidFill>
                  <a:schemeClr val="bg1"/>
                </a:solidFill>
              </a:endParaRPr>
            </a:p>
            <a:p>
              <a:pPr marR="0" lvl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it-IT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0" name="Google Shape;150;p16"/>
          <p:cNvGrpSpPr/>
          <p:nvPr/>
        </p:nvGrpSpPr>
        <p:grpSpPr>
          <a:xfrm>
            <a:off x="10793208" y="4472683"/>
            <a:ext cx="5627892" cy="4071747"/>
            <a:chOff x="0" y="61013"/>
            <a:chExt cx="4583550" cy="1389222"/>
          </a:xfrm>
        </p:grpSpPr>
        <p:sp>
          <p:nvSpPr>
            <p:cNvPr id="151" name="Google Shape;151;p16"/>
            <p:cNvSpPr txBox="1"/>
            <p:nvPr/>
          </p:nvSpPr>
          <p:spPr>
            <a:xfrm>
              <a:off x="0" y="61013"/>
              <a:ext cx="4475400" cy="9848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u="none" dirty="0">
                  <a:solidFill>
                    <a:srgbClr val="71CBEF"/>
                  </a:solidFill>
                  <a:latin typeface="Arial"/>
                  <a:ea typeface="Arial"/>
                  <a:cs typeface="Arial"/>
                  <a:sym typeface="Arial"/>
                </a:rPr>
                <a:t>DELIVERED ARCHITECTURE</a:t>
              </a:r>
              <a:endParaRPr lang="en-US" sz="2400" b="1" dirty="0"/>
            </a:p>
          </p:txBody>
        </p:sp>
        <p:sp>
          <p:nvSpPr>
            <p:cNvPr id="152" name="Google Shape;152;p16"/>
            <p:cNvSpPr txBox="1"/>
            <p:nvPr/>
          </p:nvSpPr>
          <p:spPr>
            <a:xfrm>
              <a:off x="0" y="289886"/>
              <a:ext cx="4583550" cy="11603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85750" marR="0" lvl="0" indent="-2857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it-IT" sz="1600" b="1" dirty="0" err="1">
                  <a:solidFill>
                    <a:schemeClr val="tx2"/>
                  </a:solidFill>
                </a:rPr>
                <a:t>Microservices</a:t>
              </a:r>
              <a:r>
                <a:rPr lang="it-IT" sz="1600" dirty="0">
                  <a:solidFill>
                    <a:schemeClr val="bg1"/>
                  </a:solidFill>
                </a:rPr>
                <a:t>: </a:t>
              </a:r>
              <a:r>
                <a:rPr lang="en-US" sz="1600" dirty="0">
                  <a:solidFill>
                    <a:schemeClr val="bg1"/>
                  </a:solidFill>
                </a:rPr>
                <a:t>Fully containerized stack via Docker Compose</a:t>
              </a:r>
            </a:p>
            <a:p>
              <a:pPr marL="285750" marR="0" lvl="0" indent="-2857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en-US" sz="1600" dirty="0">
                <a:solidFill>
                  <a:schemeClr val="bg1"/>
                </a:solidFill>
              </a:endParaRPr>
            </a:p>
            <a:p>
              <a:pPr marL="285750" marR="0" lvl="0" indent="-2857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US" sz="1600" b="1" dirty="0">
                  <a:solidFill>
                    <a:schemeClr val="tx2"/>
                  </a:solidFill>
                </a:rPr>
                <a:t>Event-Driven</a:t>
              </a:r>
              <a:r>
                <a:rPr lang="en-US" sz="1600" b="1" dirty="0">
                  <a:solidFill>
                    <a:schemeClr val="bg1"/>
                  </a:solidFill>
                </a:rPr>
                <a:t>: </a:t>
              </a:r>
              <a:r>
                <a:rPr lang="en-US" sz="1600" dirty="0">
                  <a:solidFill>
                    <a:schemeClr val="tx2"/>
                  </a:solidFill>
                </a:rPr>
                <a:t>Asynchronous processing </a:t>
              </a:r>
              <a:r>
                <a:rPr lang="en-US" sz="1600" dirty="0">
                  <a:solidFill>
                    <a:schemeClr val="bg1"/>
                  </a:solidFill>
                </a:rPr>
                <a:t>via RabbitMQ</a:t>
              </a:r>
            </a:p>
            <a:p>
              <a:pPr marL="285750" marR="0" lvl="0" indent="-2857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endParaRPr lang="en-US" sz="1600" dirty="0">
                <a:solidFill>
                  <a:schemeClr val="bg1"/>
                </a:solidFill>
              </a:endParaRPr>
            </a:p>
            <a:p>
              <a:pPr marL="285750" marR="0" lvl="0" indent="-2857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US" sz="1600" b="1" dirty="0">
                  <a:solidFill>
                    <a:schemeClr val="tx2"/>
                  </a:solidFill>
                </a:rPr>
                <a:t>Automation</a:t>
              </a:r>
              <a:r>
                <a:rPr lang="en-US" sz="1600" dirty="0">
                  <a:solidFill>
                    <a:schemeClr val="bg1"/>
                  </a:solidFill>
                </a:rPr>
                <a:t>: Persistent Rule Engine (</a:t>
              </a:r>
              <a:r>
                <a:rPr lang="en-US" sz="1600" dirty="0">
                  <a:solidFill>
                    <a:schemeClr val="tx2"/>
                  </a:solidFill>
                </a:rPr>
                <a:t>PostgreSQL</a:t>
              </a:r>
              <a:r>
                <a:rPr lang="en-US" sz="1600" dirty="0">
                  <a:solidFill>
                    <a:schemeClr val="bg1"/>
                  </a:solidFill>
                </a:rPr>
                <a:t>) with </a:t>
              </a:r>
            </a:p>
            <a:p>
              <a:pPr marR="0" lvl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</a:pPr>
              <a:r>
                <a:rPr lang="en-US" sz="1600" dirty="0">
                  <a:solidFill>
                    <a:schemeClr val="bg1"/>
                  </a:solidFill>
                </a:rPr>
                <a:t>     </a:t>
              </a:r>
              <a:r>
                <a:rPr lang="en-US" sz="1600" dirty="0" err="1">
                  <a:solidFill>
                    <a:schemeClr val="bg1"/>
                  </a:solidFill>
                </a:rPr>
                <a:t>Upsert</a:t>
              </a:r>
              <a:r>
                <a:rPr lang="en-US" sz="1600" dirty="0">
                  <a:solidFill>
                    <a:schemeClr val="bg1"/>
                  </a:solidFill>
                </a:rPr>
                <a:t> logic</a:t>
              </a:r>
            </a:p>
            <a:p>
              <a:pPr marL="285750" marR="0" lvl="0" indent="-2857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endParaRPr lang="en-US" sz="1600" dirty="0">
                <a:solidFill>
                  <a:schemeClr val="bg1"/>
                </a:solidFill>
              </a:endParaRPr>
            </a:p>
            <a:p>
              <a:pPr marL="285750" marR="0" lvl="0" indent="-2857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US" sz="1600" b="1" dirty="0">
                  <a:solidFill>
                    <a:schemeClr val="tx2"/>
                  </a:solidFill>
                </a:rPr>
                <a:t>Visualization</a:t>
              </a:r>
              <a:r>
                <a:rPr lang="en-US" sz="1600" dirty="0">
                  <a:solidFill>
                    <a:schemeClr val="bg1"/>
                  </a:solidFill>
                </a:rPr>
                <a:t>: Real-time Dashboard with </a:t>
              </a:r>
              <a:r>
                <a:rPr lang="en-US" sz="1600" dirty="0">
                  <a:solidFill>
                    <a:schemeClr val="tx2"/>
                  </a:solidFill>
                </a:rPr>
                <a:t>WebSocket</a:t>
              </a:r>
              <a:r>
                <a:rPr lang="en-US" sz="1600" dirty="0">
                  <a:solidFill>
                    <a:schemeClr val="bg1"/>
                  </a:solidFill>
                </a:rPr>
                <a:t> push</a:t>
              </a:r>
            </a:p>
            <a:p>
              <a:pPr marL="285750" marR="0" lvl="0" indent="-2857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endParaRPr lang="en-US" sz="1600" dirty="0">
                <a:solidFill>
                  <a:schemeClr val="bg1"/>
                </a:solidFill>
              </a:endParaRPr>
            </a:p>
            <a:p>
              <a:pPr marL="285750" marR="0" lvl="0" indent="-2857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en-US" sz="1600" b="1" dirty="0" err="1">
                  <a:solidFill>
                    <a:schemeClr val="tx2"/>
                  </a:solidFill>
                </a:rPr>
                <a:t>IaC</a:t>
              </a:r>
              <a:r>
                <a:rPr lang="en-US" sz="1600" dirty="0">
                  <a:solidFill>
                    <a:schemeClr val="bg1"/>
                  </a:solidFill>
                </a:rPr>
                <a:t>: Infrastructure defined strictly as Code</a:t>
              </a:r>
            </a:p>
            <a:p>
              <a:pPr marL="285750" marR="0" lvl="0" indent="-2857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en-US" sz="1500" dirty="0">
                <a:solidFill>
                  <a:schemeClr val="bg1"/>
                </a:solidFill>
              </a:endParaRPr>
            </a:p>
            <a:p>
              <a:pPr marL="285750" marR="0" lvl="0" indent="-2857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en-US" sz="1500" dirty="0">
                <a:solidFill>
                  <a:schemeClr val="tx2"/>
                </a:solidFill>
              </a:endParaRPr>
            </a:p>
            <a:p>
              <a:pPr marL="285750" marR="0" lvl="0" indent="-28575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en-US" sz="15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153" name="Google Shape;153;p16"/>
          <p:cNvPicPr preferRelativeResize="0"/>
          <p:nvPr/>
        </p:nvPicPr>
        <p:blipFill rotWithShape="1">
          <a:blip r:embed="rId4">
            <a:alphaModFix/>
          </a:blip>
          <a:srcRect l="16827" t="29632" r="67506" b="42797"/>
          <a:stretch/>
        </p:blipFill>
        <p:spPr>
          <a:xfrm>
            <a:off x="12736158" y="2569735"/>
            <a:ext cx="1609200" cy="15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2" name="Google Shape;432;p30"/>
          <p:cNvCxnSpPr>
            <a:cxnSpLocks/>
          </p:cNvCxnSpPr>
          <p:nvPr/>
        </p:nvCxnSpPr>
        <p:spPr>
          <a:xfrm>
            <a:off x="9130559" y="518615"/>
            <a:ext cx="0" cy="9266830"/>
          </a:xfrm>
          <a:prstGeom prst="straightConnector1">
            <a:avLst/>
          </a:prstGeom>
          <a:noFill/>
          <a:ln w="38100" cap="flat" cmpd="sng">
            <a:solidFill>
              <a:srgbClr val="71CBE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9" name="Google Shape;489;p30"/>
          <p:cNvSpPr txBox="1"/>
          <p:nvPr/>
        </p:nvSpPr>
        <p:spPr>
          <a:xfrm>
            <a:off x="1852349" y="658650"/>
            <a:ext cx="5049015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EVENT-DRIVEN ARCHITECTURE &amp; DATA FLOW</a:t>
            </a:r>
            <a:endParaRPr lang="en-US" sz="4000" dirty="0"/>
          </a:p>
        </p:txBody>
      </p:sp>
      <p:sp>
        <p:nvSpPr>
          <p:cNvPr id="490" name="Google Shape;490;p30"/>
          <p:cNvSpPr txBox="1"/>
          <p:nvPr/>
        </p:nvSpPr>
        <p:spPr>
          <a:xfrm>
            <a:off x="1118526" y="2760345"/>
            <a:ext cx="7211085" cy="7201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1" dirty="0">
                <a:solidFill>
                  <a:schemeClr val="tx2"/>
                </a:solidFill>
              </a:rPr>
              <a:t>High-Level Overview: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+mj-lt"/>
              <a:buAutoNum type="arabicPeriod"/>
            </a:pPr>
            <a:endParaRPr lang="en-US" sz="2000" b="1" i="1" dirty="0">
              <a:solidFill>
                <a:schemeClr val="tx2"/>
              </a:solidFill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+mj-lt"/>
              <a:buAutoNum type="arabicPeriod"/>
            </a:pPr>
            <a:r>
              <a:rPr lang="en-US" sz="2000" b="1" dirty="0">
                <a:solidFill>
                  <a:schemeClr val="tx2"/>
                </a:solidFill>
              </a:rPr>
              <a:t>Decoupled Ingestion Layer</a:t>
            </a:r>
            <a:r>
              <a:rPr lang="en-US" sz="2000" dirty="0">
                <a:solidFill>
                  <a:srgbClr val="FFFFFF"/>
                </a:solidFill>
              </a:rPr>
              <a:t>: A dedicated microservice polls legacy REST sensors (5s interval), normalizing heterogeneous data into a Unified Event Schema. It publishes atomic events to RabbitMQ, ensuring data intake never blocks processing.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+mj-lt"/>
              <a:buAutoNum type="arabicPeriod"/>
            </a:pPr>
            <a:endParaRPr lang="en-US" sz="20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+mj-lt"/>
              <a:buAutoNum type="arabicPeriod"/>
            </a:pPr>
            <a:r>
              <a:rPr lang="it-IT" sz="2000" b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The "Fan-out" </a:t>
            </a:r>
            <a:r>
              <a:rPr lang="it-IT" sz="2000" b="1" dirty="0" err="1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Backbone</a:t>
            </a:r>
            <a:r>
              <a:rPr lang="it-IT" sz="2000" b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0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0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Message Broker</a:t>
            </a:r>
            <a:r>
              <a:rPr lang="en-US" sz="20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broadcasts every event simultaneously to all consumers. This architecture decouples the "source" from the "brains," guaranteeing system resilience even if a component fails.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+mj-lt"/>
              <a:buAutoNum type="arabicPeriod"/>
            </a:pPr>
            <a:endParaRPr lang="en-US" sz="2000" dirty="0">
              <a:solidFill>
                <a:schemeClr val="bg1"/>
              </a:solidFill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+mj-lt"/>
              <a:buAutoNum type="arabicPeriod"/>
            </a:pPr>
            <a:r>
              <a:rPr lang="it-IT" sz="2000" b="1" dirty="0" err="1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Persistent</a:t>
            </a:r>
            <a:r>
              <a:rPr lang="it-IT" sz="2000" b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 Automation</a:t>
            </a:r>
            <a:r>
              <a:rPr lang="it-IT" sz="20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0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0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Rule Engine </a:t>
            </a:r>
            <a:r>
              <a:rPr lang="en-US" sz="20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consumes events to evaluate safety conditions dynamically. All rules are stored in PostgreSQL, ensuring critical safety protocols survive system reboots.</a:t>
            </a:r>
            <a:endParaRPr lang="en-US" sz="2000" dirty="0">
              <a:solidFill>
                <a:schemeClr val="bg1"/>
              </a:solidFill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+mj-lt"/>
              <a:buAutoNum type="arabicPeriod"/>
            </a:pPr>
            <a:endParaRPr lang="en-US" sz="20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+mj-lt"/>
              <a:buAutoNum type="arabicPeriod"/>
            </a:pPr>
            <a:r>
              <a:rPr lang="it-IT" sz="2000" b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Real-Time </a:t>
            </a:r>
            <a:r>
              <a:rPr lang="it-IT" sz="2000" b="1" dirty="0" err="1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Visualization</a:t>
            </a:r>
            <a:r>
              <a:rPr lang="it-IT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000" dirty="0">
                <a:solidFill>
                  <a:schemeClr val="bg1"/>
                </a:solidFill>
              </a:rPr>
              <a:t>The </a:t>
            </a:r>
            <a:r>
              <a:rPr lang="en-US" sz="2000" dirty="0">
                <a:solidFill>
                  <a:schemeClr val="tx2"/>
                </a:solidFill>
              </a:rPr>
              <a:t>API Gateway </a:t>
            </a:r>
            <a:r>
              <a:rPr lang="en-US" sz="2000" dirty="0">
                <a:solidFill>
                  <a:schemeClr val="bg1"/>
                </a:solidFill>
              </a:rPr>
              <a:t>updates the system state in-memory and pushes live telemetry to the Dashboard via </a:t>
            </a:r>
            <a:r>
              <a:rPr lang="en-US" sz="2000" b="1" dirty="0" err="1">
                <a:solidFill>
                  <a:schemeClr val="bg1"/>
                </a:solidFill>
              </a:rPr>
              <a:t>WebSockets</a:t>
            </a:r>
            <a:r>
              <a:rPr lang="en-US" sz="2000" dirty="0">
                <a:solidFill>
                  <a:schemeClr val="bg1"/>
                </a:solidFill>
              </a:rPr>
              <a:t>, providing zero-latency situational awareness.</a:t>
            </a:r>
            <a:endParaRPr sz="20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Immagine 8" descr="Immagine che contiene testo, schermata, diagramma, Parallelo&#10;&#10;Il contenuto generato dall'IA potrebbe non essere corretto.">
            <a:extLst>
              <a:ext uri="{FF2B5EF4-FFF2-40B4-BE49-F238E27FC236}">
                <a16:creationId xmlns:a16="http://schemas.microsoft.com/office/drawing/2014/main" id="{F360436C-4C80-88B8-5929-E4B3933A4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9598" y="495148"/>
            <a:ext cx="6769873" cy="930770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chemeClr val="bg2">
                <a:lumMod val="40000"/>
                <a:lumOff val="60000"/>
              </a:schemeClr>
            </a:inn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oogle Shape;203;p20"/>
          <p:cNvGrpSpPr/>
          <p:nvPr/>
        </p:nvGrpSpPr>
        <p:grpSpPr>
          <a:xfrm>
            <a:off x="1057072" y="352133"/>
            <a:ext cx="16173852" cy="9307772"/>
            <a:chOff x="0" y="-47625"/>
            <a:chExt cx="4259780" cy="2215092"/>
          </a:xfrm>
        </p:grpSpPr>
        <p:sp>
          <p:nvSpPr>
            <p:cNvPr id="204" name="Google Shape;204;p20"/>
            <p:cNvSpPr/>
            <p:nvPr/>
          </p:nvSpPr>
          <p:spPr>
            <a:xfrm>
              <a:off x="0" y="0"/>
              <a:ext cx="4259780" cy="2167467"/>
            </a:xfrm>
            <a:custGeom>
              <a:avLst/>
              <a:gdLst/>
              <a:ahLst/>
              <a:cxnLst/>
              <a:rect l="l" t="t" r="r" b="b"/>
              <a:pathLst>
                <a:path w="4259780" h="2167467" extrusionOk="0">
                  <a:moveTo>
                    <a:pt x="0" y="0"/>
                  </a:moveTo>
                  <a:lnTo>
                    <a:pt x="4259780" y="0"/>
                  </a:lnTo>
                  <a:lnTo>
                    <a:pt x="4259780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71CBE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205" name="Google Shape;205;p20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06" name="Google Shape;206;p20"/>
          <p:cNvCxnSpPr/>
          <p:nvPr/>
        </p:nvCxnSpPr>
        <p:spPr>
          <a:xfrm>
            <a:off x="2307592" y="4190975"/>
            <a:ext cx="13712096" cy="6188"/>
          </a:xfrm>
          <a:prstGeom prst="straightConnector1">
            <a:avLst/>
          </a:prstGeom>
          <a:noFill/>
          <a:ln w="47625" cap="flat" cmpd="sng">
            <a:solidFill>
              <a:srgbClr val="71CBE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7" name="Google Shape;207;p20"/>
          <p:cNvSpPr/>
          <p:nvPr/>
        </p:nvSpPr>
        <p:spPr>
          <a:xfrm>
            <a:off x="3036157" y="3207503"/>
            <a:ext cx="1919319" cy="1919319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71CB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6466541" y="3207503"/>
            <a:ext cx="1919319" cy="1919319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71CB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9896925" y="3207503"/>
            <a:ext cx="1919319" cy="1919319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71CB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13327309" y="3207503"/>
            <a:ext cx="1919319" cy="1919319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71CB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1057072" y="811882"/>
            <a:ext cx="16173853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FROM RAW SENSORS TO UNIFIED EVENTS</a:t>
            </a:r>
            <a:endParaRPr lang="en-US" sz="4800" dirty="0"/>
          </a:p>
        </p:txBody>
      </p:sp>
      <p:sp>
        <p:nvSpPr>
          <p:cNvPr id="213" name="Google Shape;213;p20"/>
          <p:cNvSpPr txBox="1"/>
          <p:nvPr/>
        </p:nvSpPr>
        <p:spPr>
          <a:xfrm>
            <a:off x="2630691" y="5814874"/>
            <a:ext cx="2826481" cy="3735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u="none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Legacy Polling</a:t>
            </a:r>
          </a:p>
          <a:p>
            <a:pPr marL="0" marR="0" lvl="0" indent="0" algn="l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marR="0" lvl="0" indent="0" algn="l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The Ingestion Microservice queries the Simulator API every 5 seconds (REST GET). </a:t>
            </a:r>
            <a:r>
              <a:rPr lang="en-US" sz="1800" dirty="0">
                <a:solidFill>
                  <a:schemeClr val="tx2"/>
                </a:solidFill>
              </a:rPr>
              <a:t>Target</a:t>
            </a:r>
            <a:r>
              <a:rPr lang="en-US" sz="1800" dirty="0">
                <a:solidFill>
                  <a:schemeClr val="bg1"/>
                </a:solidFill>
              </a:rPr>
              <a:t>: Heterogeneous sensors with incompatible dialects (e.g., </a:t>
            </a:r>
            <a:r>
              <a:rPr lang="en-US" sz="1800" dirty="0" err="1">
                <a:solidFill>
                  <a:schemeClr val="bg1"/>
                </a:solidFill>
              </a:rPr>
              <a:t>rest.scalar</a:t>
            </a:r>
            <a:r>
              <a:rPr lang="en-US" sz="1800" dirty="0">
                <a:solidFill>
                  <a:schemeClr val="bg1"/>
                </a:solidFill>
              </a:rPr>
              <a:t> vs </a:t>
            </a:r>
            <a:r>
              <a:rPr lang="en-US" sz="1800" dirty="0" err="1">
                <a:solidFill>
                  <a:schemeClr val="bg1"/>
                </a:solidFill>
              </a:rPr>
              <a:t>rest.chemistry</a:t>
            </a:r>
            <a:r>
              <a:rPr lang="en-US" sz="1800" dirty="0">
                <a:solidFill>
                  <a:schemeClr val="bg1"/>
                </a:solidFill>
              </a:rPr>
              <a:t>).</a:t>
            </a:r>
          </a:p>
          <a:p>
            <a:pPr marL="0" marR="0" lvl="0" indent="0" algn="l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6083002" y="5814874"/>
            <a:ext cx="2961672" cy="2806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 err="1">
                <a:solidFill>
                  <a:schemeClr val="tx2"/>
                </a:solidFill>
              </a:rPr>
              <a:t>Protocol</a:t>
            </a:r>
            <a:r>
              <a:rPr lang="it-IT" sz="2600" b="1" dirty="0">
                <a:solidFill>
                  <a:schemeClr val="tx2"/>
                </a:solidFill>
              </a:rPr>
              <a:t> Decoding</a:t>
            </a:r>
          </a:p>
          <a:p>
            <a:pPr marL="0" marR="0" lvl="0" indent="0" algn="l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marR="0" lvl="0" indent="0" algn="l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The service actively identifies the sensor type. Complex nested payloads (like chemistry arrays) are unpacked and flattened into </a:t>
            </a:r>
            <a:r>
              <a:rPr lang="en-US" sz="1800" dirty="0">
                <a:solidFill>
                  <a:schemeClr val="tx2"/>
                </a:solidFill>
              </a:rPr>
              <a:t>individual metric readings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  <a:endParaRPr lang="it-IT" sz="1800" dirty="0">
              <a:solidFill>
                <a:schemeClr val="bg1"/>
              </a:solidFill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9670504" y="5855666"/>
            <a:ext cx="2826481" cy="347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1" dirty="0" err="1">
                <a:solidFill>
                  <a:schemeClr val="tx2"/>
                </a:solidFill>
              </a:rPr>
              <a:t>Unified</a:t>
            </a:r>
            <a:r>
              <a:rPr lang="it-IT" sz="2600" b="1" dirty="0">
                <a:solidFill>
                  <a:schemeClr val="tx2"/>
                </a:solidFill>
              </a:rPr>
              <a:t> Schema</a:t>
            </a:r>
          </a:p>
          <a:p>
            <a:pPr marR="0" lvl="0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</a:endParaRPr>
          </a:p>
          <a:p>
            <a:pPr marR="0" lvl="0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</a:rPr>
              <a:t>All data is converted into a standard </a:t>
            </a:r>
            <a:r>
              <a:rPr lang="en-US" sz="1800" dirty="0">
                <a:solidFill>
                  <a:schemeClr val="tx2"/>
                </a:solidFill>
              </a:rPr>
              <a:t>JSON format</a:t>
            </a:r>
            <a:r>
              <a:rPr lang="en-US" sz="1800" dirty="0">
                <a:solidFill>
                  <a:schemeClr val="bg1"/>
                </a:solidFill>
              </a:rPr>
              <a:t>:</a:t>
            </a:r>
          </a:p>
          <a:p>
            <a:pPr marR="0" lvl="0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</a:endParaRPr>
          </a:p>
          <a:p>
            <a:pPr marL="285750" marR="0" lvl="0" indent="-285750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800" b="1" dirty="0">
                <a:solidFill>
                  <a:schemeClr val="tx2"/>
                </a:solidFill>
              </a:rPr>
              <a:t>source</a:t>
            </a:r>
            <a:r>
              <a:rPr lang="it-IT" sz="1800" dirty="0">
                <a:solidFill>
                  <a:schemeClr val="bg1"/>
                </a:solidFill>
              </a:rPr>
              <a:t>: ID &amp; </a:t>
            </a:r>
            <a:r>
              <a:rPr lang="it-IT" sz="1800" dirty="0" err="1">
                <a:solidFill>
                  <a:schemeClr val="bg1"/>
                </a:solidFill>
              </a:rPr>
              <a:t>Protocol</a:t>
            </a:r>
            <a:endParaRPr lang="it-IT" sz="1800" dirty="0">
              <a:solidFill>
                <a:schemeClr val="bg1"/>
              </a:solidFill>
            </a:endParaRPr>
          </a:p>
          <a:p>
            <a:pPr marL="285750" marR="0" lvl="0" indent="-285750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800" b="1" dirty="0">
                <a:solidFill>
                  <a:schemeClr val="tx2"/>
                </a:solidFill>
              </a:rPr>
              <a:t>payload</a:t>
            </a:r>
            <a:r>
              <a:rPr lang="it-IT" sz="1800" dirty="0">
                <a:solidFill>
                  <a:schemeClr val="bg1"/>
                </a:solidFill>
              </a:rPr>
              <a:t>: Value &amp; Unit</a:t>
            </a:r>
          </a:p>
          <a:p>
            <a:pPr marL="285750" marR="0" lvl="0" indent="-285750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800" b="1" dirty="0" err="1">
                <a:solidFill>
                  <a:schemeClr val="tx2"/>
                </a:solidFill>
              </a:rPr>
              <a:t>timestamp</a:t>
            </a:r>
            <a:r>
              <a:rPr lang="it-IT" sz="1800" dirty="0">
                <a:solidFill>
                  <a:schemeClr val="bg1"/>
                </a:solidFill>
              </a:rPr>
              <a:t>: ISO-8601</a:t>
            </a:r>
          </a:p>
          <a:p>
            <a:pPr marL="285750" marR="0" lvl="0" indent="-285750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it-IT" sz="1800" dirty="0">
              <a:solidFill>
                <a:schemeClr val="bg1"/>
              </a:solidFill>
            </a:endParaRPr>
          </a:p>
          <a:p>
            <a:pPr marL="285750" marR="0" lvl="0" indent="-285750" algn="l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it-IT" sz="1800" dirty="0">
              <a:solidFill>
                <a:schemeClr val="bg1"/>
              </a:solidFill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13122815" y="5814874"/>
            <a:ext cx="3087941" cy="4395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u="none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Broker Dispatch</a:t>
            </a:r>
          </a:p>
          <a:p>
            <a:pPr marL="0" marR="0" lvl="0" indent="0" algn="l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600" b="1" dirty="0">
              <a:solidFill>
                <a:schemeClr val="tx2"/>
              </a:solidFill>
            </a:endParaRPr>
          </a:p>
          <a:p>
            <a:pPr marL="0" marR="0" lvl="0" indent="0" algn="l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The sanitized, atomic event is published to RabbitMQ (</a:t>
            </a:r>
            <a:r>
              <a:rPr lang="en-US" sz="1800" dirty="0" err="1">
                <a:solidFill>
                  <a:schemeClr val="tx2"/>
                </a:solidFill>
              </a:rPr>
              <a:t>ares_telemetry_stream</a:t>
            </a:r>
            <a:r>
              <a:rPr lang="en-US" sz="1800" dirty="0">
                <a:solidFill>
                  <a:schemeClr val="bg1"/>
                </a:solidFill>
              </a:rPr>
              <a:t>).The ingestion process ends here, fully decoupled from the rest of the system.</a:t>
            </a:r>
          </a:p>
          <a:p>
            <a:pPr marL="0" marR="0" lvl="0" indent="0" algn="l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600" b="1" u="none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600" b="1" dirty="0">
              <a:solidFill>
                <a:schemeClr val="tx2"/>
              </a:solidFill>
            </a:endParaRPr>
          </a:p>
          <a:p>
            <a:pPr marL="0" marR="0" lvl="0" indent="0" algn="l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600" b="1" dirty="0">
              <a:solidFill>
                <a:schemeClr val="tx2"/>
              </a:solidFill>
            </a:endParaRPr>
          </a:p>
        </p:txBody>
      </p:sp>
      <p:pic>
        <p:nvPicPr>
          <p:cNvPr id="224" name="Google Shape;224;p20"/>
          <p:cNvPicPr preferRelativeResize="0"/>
          <p:nvPr/>
        </p:nvPicPr>
        <p:blipFill rotWithShape="1">
          <a:blip r:embed="rId3">
            <a:alphaModFix/>
          </a:blip>
          <a:srcRect l="15930" t="44174" r="76033" b="40098"/>
          <a:stretch/>
        </p:blipFill>
        <p:spPr>
          <a:xfrm>
            <a:off x="3257325" y="3358959"/>
            <a:ext cx="1469573" cy="1617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0"/>
          <p:cNvPicPr preferRelativeResize="0"/>
          <p:nvPr/>
        </p:nvPicPr>
        <p:blipFill rotWithShape="1">
          <a:blip r:embed="rId3">
            <a:alphaModFix/>
          </a:blip>
          <a:srcRect l="34549" t="44174" r="56044" b="40098"/>
          <a:stretch/>
        </p:blipFill>
        <p:spPr>
          <a:xfrm>
            <a:off x="6665774" y="3358284"/>
            <a:ext cx="1720100" cy="1617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0"/>
          <p:cNvPicPr preferRelativeResize="0"/>
          <p:nvPr/>
        </p:nvPicPr>
        <p:blipFill rotWithShape="1">
          <a:blip r:embed="rId3">
            <a:alphaModFix/>
          </a:blip>
          <a:srcRect l="53027" t="44174" r="37566" b="40098"/>
          <a:stretch/>
        </p:blipFill>
        <p:spPr>
          <a:xfrm>
            <a:off x="10019926" y="3358284"/>
            <a:ext cx="1720100" cy="1617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0"/>
          <p:cNvPicPr preferRelativeResize="0"/>
          <p:nvPr/>
        </p:nvPicPr>
        <p:blipFill rotWithShape="1">
          <a:blip r:embed="rId3">
            <a:alphaModFix/>
          </a:blip>
          <a:srcRect l="72163" t="44174" r="19260" b="40098"/>
          <a:stretch/>
        </p:blipFill>
        <p:spPr>
          <a:xfrm>
            <a:off x="13519624" y="3358284"/>
            <a:ext cx="1568374" cy="161777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30CC4B85-824B-E2DD-F670-9C615C3DFE88}"/>
              </a:ext>
            </a:extLst>
          </p:cNvPr>
          <p:cNvSpPr txBox="1"/>
          <p:nvPr/>
        </p:nvSpPr>
        <p:spPr>
          <a:xfrm>
            <a:off x="1901812" y="1796558"/>
            <a:ext cx="6288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The Normalization Process</a:t>
            </a:r>
            <a:endParaRPr lang="it-IT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1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77" name="Google Shape;77;p12"/>
            <p:cNvSpPr/>
            <p:nvPr/>
          </p:nvSpPr>
          <p:spPr>
            <a:xfrm rot="5400000">
              <a:off x="8503696" y="-8503696"/>
              <a:ext cx="7376608" cy="24384000"/>
            </a:xfrm>
            <a:custGeom>
              <a:avLst/>
              <a:gdLst/>
              <a:ahLst/>
              <a:cxnLst/>
              <a:rect l="l" t="t" r="r" b="b"/>
              <a:pathLst>
                <a:path w="7376608" h="24384000" extrusionOk="0">
                  <a:moveTo>
                    <a:pt x="0" y="0"/>
                  </a:moveTo>
                  <a:lnTo>
                    <a:pt x="7376608" y="0"/>
                  </a:lnTo>
                  <a:lnTo>
                    <a:pt x="7376608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5548" r="-205007"/>
              </a:stretch>
            </a:blipFill>
            <a:ln>
              <a:noFill/>
            </a:ln>
          </p:spPr>
        </p:sp>
        <p:sp>
          <p:nvSpPr>
            <p:cNvPr id="78" name="Google Shape;78;p12"/>
            <p:cNvSpPr/>
            <p:nvPr/>
          </p:nvSpPr>
          <p:spPr>
            <a:xfrm rot="5400000" flipH="1">
              <a:off x="9022304" y="-1645696"/>
              <a:ext cx="6339392" cy="24384000"/>
            </a:xfrm>
            <a:custGeom>
              <a:avLst/>
              <a:gdLst/>
              <a:ahLst/>
              <a:cxnLst/>
              <a:rect l="l" t="t" r="r" b="b"/>
              <a:pathLst>
                <a:path w="6339392" h="24384000" extrusionOk="0">
                  <a:moveTo>
                    <a:pt x="0" y="24384000"/>
                  </a:moveTo>
                  <a:lnTo>
                    <a:pt x="6339392" y="24384000"/>
                  </a:lnTo>
                  <a:lnTo>
                    <a:pt x="6339392" y="0"/>
                  </a:lnTo>
                  <a:lnTo>
                    <a:pt x="0" y="0"/>
                  </a:lnTo>
                  <a:lnTo>
                    <a:pt x="0" y="2438400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9726" r="-254888"/>
              </a:stretch>
            </a:blipFill>
            <a:ln>
              <a:noFill/>
            </a:ln>
          </p:spPr>
        </p:sp>
      </p:grpSp>
      <p:grpSp>
        <p:nvGrpSpPr>
          <p:cNvPr id="79" name="Google Shape;79;p12"/>
          <p:cNvGrpSpPr/>
          <p:nvPr/>
        </p:nvGrpSpPr>
        <p:grpSpPr>
          <a:xfrm>
            <a:off x="457200" y="503261"/>
            <a:ext cx="17373599" cy="9280478"/>
            <a:chOff x="0" y="-241102"/>
            <a:chExt cx="22361444" cy="11698677"/>
          </a:xfrm>
        </p:grpSpPr>
        <p:grpSp>
          <p:nvGrpSpPr>
            <p:cNvPr id="80" name="Google Shape;80;p12"/>
            <p:cNvGrpSpPr/>
            <p:nvPr/>
          </p:nvGrpSpPr>
          <p:grpSpPr>
            <a:xfrm>
              <a:off x="0" y="-241102"/>
              <a:ext cx="22361444" cy="11698677"/>
              <a:chOff x="0" y="-47625"/>
              <a:chExt cx="4417075" cy="2310850"/>
            </a:xfrm>
          </p:grpSpPr>
          <p:sp>
            <p:nvSpPr>
              <p:cNvPr id="81" name="Google Shape;81;p12"/>
              <p:cNvSpPr/>
              <p:nvPr/>
            </p:nvSpPr>
            <p:spPr>
              <a:xfrm>
                <a:off x="0" y="0"/>
                <a:ext cx="4417075" cy="2263225"/>
              </a:xfrm>
              <a:custGeom>
                <a:avLst/>
                <a:gdLst/>
                <a:ahLst/>
                <a:cxnLst/>
                <a:rect l="l" t="t" r="r" b="b"/>
                <a:pathLst>
                  <a:path w="4417075" h="2263225" extrusionOk="0">
                    <a:moveTo>
                      <a:pt x="0" y="0"/>
                    </a:moveTo>
                    <a:lnTo>
                      <a:pt x="4417075" y="0"/>
                    </a:lnTo>
                    <a:lnTo>
                      <a:pt x="4417075" y="2263225"/>
                    </a:lnTo>
                    <a:lnTo>
                      <a:pt x="0" y="2263225"/>
                    </a:lnTo>
                    <a:close/>
                  </a:path>
                </a:pathLst>
              </a:custGeom>
              <a:solidFill>
                <a:srgbClr val="0F1A38"/>
              </a:solidFill>
              <a:ln>
                <a:noFill/>
              </a:ln>
            </p:spPr>
          </p:sp>
          <p:sp>
            <p:nvSpPr>
              <p:cNvPr id="82" name="Google Shape;82;p12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" name="Google Shape;83;p12"/>
            <p:cNvGrpSpPr/>
            <p:nvPr/>
          </p:nvGrpSpPr>
          <p:grpSpPr>
            <a:xfrm>
              <a:off x="698199" y="414054"/>
              <a:ext cx="20876442" cy="10385854"/>
              <a:chOff x="0" y="-47625"/>
              <a:chExt cx="4123742" cy="2051527"/>
            </a:xfrm>
          </p:grpSpPr>
          <p:sp>
            <p:nvSpPr>
              <p:cNvPr id="84" name="Google Shape;84;p12"/>
              <p:cNvSpPr/>
              <p:nvPr/>
            </p:nvSpPr>
            <p:spPr>
              <a:xfrm>
                <a:off x="0" y="0"/>
                <a:ext cx="4123742" cy="2003902"/>
              </a:xfrm>
              <a:custGeom>
                <a:avLst/>
                <a:gdLst/>
                <a:ahLst/>
                <a:cxnLst/>
                <a:rect l="l" t="t" r="r" b="b"/>
                <a:pathLst>
                  <a:path w="4123742" h="2003902" extrusionOk="0">
                    <a:moveTo>
                      <a:pt x="0" y="0"/>
                    </a:moveTo>
                    <a:lnTo>
                      <a:pt x="4123742" y="0"/>
                    </a:lnTo>
                    <a:lnTo>
                      <a:pt x="4123742" y="2003902"/>
                    </a:lnTo>
                    <a:lnTo>
                      <a:pt x="0" y="200390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 cmpd="sng">
                <a:solidFill>
                  <a:srgbClr val="71CBE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</p:sp>
          <p:sp>
            <p:nvSpPr>
              <p:cNvPr id="85" name="Google Shape;85;p12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6" name="Google Shape;86;p12"/>
          <p:cNvSpPr txBox="1"/>
          <p:nvPr/>
        </p:nvSpPr>
        <p:spPr>
          <a:xfrm>
            <a:off x="7765157" y="5832711"/>
            <a:ext cx="3469731" cy="3139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 dirty="0">
                <a:solidFill>
                  <a:srgbClr val="71CBEF"/>
                </a:solidFill>
                <a:latin typeface="Arial"/>
                <a:ea typeface="Arial"/>
                <a:cs typeface="Arial"/>
                <a:sym typeface="Arial"/>
              </a:rPr>
              <a:t>Fan-out Exchange</a:t>
            </a:r>
          </a:p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71CBEF"/>
              </a:solidFill>
            </a:endParaRPr>
          </a:p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RabbitMQ sits at the center, acting as the distribution hub. We utilize a Fan-out pattern to instantaneously broadcast every single telemetry event to multiple queues simultaneously, ensuring </a:t>
            </a:r>
            <a:r>
              <a:rPr lang="en-US" sz="1800" dirty="0">
                <a:solidFill>
                  <a:schemeClr val="tx2"/>
                </a:solidFill>
              </a:rPr>
              <a:t>parallel processing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88" name="Google Shape;88;p12"/>
          <p:cNvSpPr txBox="1"/>
          <p:nvPr/>
        </p:nvSpPr>
        <p:spPr>
          <a:xfrm>
            <a:off x="2317176" y="5832411"/>
            <a:ext cx="4716585" cy="2474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 dirty="0">
                <a:solidFill>
                  <a:srgbClr val="71CBEF"/>
                </a:solidFill>
                <a:latin typeface="Arial"/>
                <a:ea typeface="Arial"/>
                <a:cs typeface="Arial"/>
                <a:sym typeface="Arial"/>
              </a:rPr>
              <a:t>Fire &amp; Forget Ingestion</a:t>
            </a:r>
          </a:p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71CBEF"/>
              </a:solidFill>
            </a:endParaRPr>
          </a:p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The Ingestion Microservice publishes normalized events to the </a:t>
            </a:r>
            <a:r>
              <a:rPr lang="en-US" sz="1800" dirty="0">
                <a:solidFill>
                  <a:schemeClr val="tx2"/>
                </a:solidFill>
              </a:rPr>
              <a:t>exchange</a:t>
            </a:r>
            <a:r>
              <a:rPr lang="en-US" sz="1800" dirty="0">
                <a:solidFill>
                  <a:schemeClr val="bg1"/>
                </a:solidFill>
              </a:rPr>
              <a:t>. It operates blindly, unaware of who is listening, maximizing throughput and decoupling data intake from processing logic.</a:t>
            </a:r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90" name="Google Shape;90;p12"/>
          <p:cNvSpPr txBox="1"/>
          <p:nvPr/>
        </p:nvSpPr>
        <p:spPr>
          <a:xfrm>
            <a:off x="12824884" y="5832411"/>
            <a:ext cx="3794478" cy="3951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 dirty="0">
                <a:solidFill>
                  <a:srgbClr val="71CBEF"/>
                </a:solidFill>
                <a:latin typeface="Arial"/>
                <a:ea typeface="Arial"/>
                <a:cs typeface="Arial"/>
                <a:sym typeface="Arial"/>
              </a:rPr>
              <a:t>Parallel Execution</a:t>
            </a:r>
          </a:p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Two distinct services consume the same message stream in parallel:</a:t>
            </a:r>
          </a:p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285750" marR="0" lvl="0" indent="-2857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800" b="1" dirty="0">
                <a:solidFill>
                  <a:schemeClr val="tx2"/>
                </a:solidFill>
              </a:rPr>
              <a:t>Automation Engine</a:t>
            </a:r>
          </a:p>
          <a:p>
            <a:pPr marL="285750" marR="0" lvl="0" indent="-2857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API Gateway</a:t>
            </a:r>
          </a:p>
          <a:p>
            <a:pPr marR="0"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endParaRPr lang="en-US" b="1" dirty="0">
              <a:solidFill>
                <a:schemeClr val="bg1"/>
              </a:solidFill>
            </a:endParaRPr>
          </a:p>
          <a:p>
            <a:pPr marR="0"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en-US" sz="1600" b="1" i="1" dirty="0">
                <a:solidFill>
                  <a:schemeClr val="bg1"/>
                </a:solidFill>
              </a:rPr>
              <a:t>Note</a:t>
            </a:r>
            <a:r>
              <a:rPr lang="en-US" sz="1600" i="1" dirty="0">
                <a:solidFill>
                  <a:schemeClr val="bg1"/>
                </a:solidFill>
              </a:rPr>
              <a:t>: If one fails, the other continues uninterrupted.</a:t>
            </a:r>
            <a:endParaRPr lang="it-IT" sz="1600" i="1" dirty="0">
              <a:solidFill>
                <a:schemeClr val="bg1"/>
              </a:solidFill>
            </a:endParaRPr>
          </a:p>
          <a:p>
            <a:pPr marL="285750" marR="0" lvl="0" indent="-2857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it-IT" sz="1800" dirty="0">
              <a:solidFill>
                <a:schemeClr val="bg1"/>
              </a:solidFill>
            </a:endParaRPr>
          </a:p>
          <a:p>
            <a:pPr marL="285750" marR="0" lvl="0" indent="-2857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sz="1800" dirty="0">
              <a:solidFill>
                <a:schemeClr val="bg1"/>
              </a:solidFill>
            </a:endParaRPr>
          </a:p>
        </p:txBody>
      </p:sp>
      <p:pic>
        <p:nvPicPr>
          <p:cNvPr id="93" name="Google Shape;93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0709" y="3763869"/>
            <a:ext cx="1757417" cy="1757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42793" y="3733001"/>
            <a:ext cx="1881130" cy="1757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96751" y="3733002"/>
            <a:ext cx="1757417" cy="175741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11;p20">
            <a:extLst>
              <a:ext uri="{FF2B5EF4-FFF2-40B4-BE49-F238E27FC236}">
                <a16:creationId xmlns:a16="http://schemas.microsoft.com/office/drawing/2014/main" id="{8F53DE0C-9325-61C5-E646-B4F7289194F1}"/>
              </a:ext>
            </a:extLst>
          </p:cNvPr>
          <p:cNvSpPr txBox="1"/>
          <p:nvPr/>
        </p:nvSpPr>
        <p:spPr>
          <a:xfrm>
            <a:off x="1035666" y="1778617"/>
            <a:ext cx="16173853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NERVOUS SYSTEM: RABBITMQ BACKBONE</a:t>
            </a:r>
            <a:endParaRPr lang="en-US" sz="44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9EF56F9-86E5-5F31-045B-86E2163C0C6B}"/>
              </a:ext>
            </a:extLst>
          </p:cNvPr>
          <p:cNvSpPr txBox="1"/>
          <p:nvPr/>
        </p:nvSpPr>
        <p:spPr>
          <a:xfrm>
            <a:off x="1721160" y="2775225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The Nervous System: RabbitMQ Backbone</a:t>
            </a:r>
            <a:endParaRPr lang="it-IT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15"/>
          <p:cNvGrpSpPr/>
          <p:nvPr/>
        </p:nvGrpSpPr>
        <p:grpSpPr>
          <a:xfrm>
            <a:off x="777407" y="847874"/>
            <a:ext cx="16173852" cy="8410426"/>
            <a:chOff x="0" y="-47625"/>
            <a:chExt cx="4259780" cy="2215092"/>
          </a:xfrm>
        </p:grpSpPr>
        <p:sp>
          <p:nvSpPr>
            <p:cNvPr id="129" name="Google Shape;129;p15"/>
            <p:cNvSpPr/>
            <p:nvPr/>
          </p:nvSpPr>
          <p:spPr>
            <a:xfrm>
              <a:off x="0" y="0"/>
              <a:ext cx="4259780" cy="2167467"/>
            </a:xfrm>
            <a:custGeom>
              <a:avLst/>
              <a:gdLst/>
              <a:ahLst/>
              <a:cxnLst/>
              <a:rect l="l" t="t" r="r" b="b"/>
              <a:pathLst>
                <a:path w="4259780" h="2167467" extrusionOk="0">
                  <a:moveTo>
                    <a:pt x="0" y="0"/>
                  </a:moveTo>
                  <a:lnTo>
                    <a:pt x="4259780" y="0"/>
                  </a:lnTo>
                  <a:lnTo>
                    <a:pt x="4259780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71CBE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30" name="Google Shape;130;p15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1" name="Google Shape;131;p15"/>
          <p:cNvPicPr preferRelativeResize="0"/>
          <p:nvPr/>
        </p:nvPicPr>
        <p:blipFill rotWithShape="1">
          <a:blip r:embed="rId3">
            <a:alphaModFix/>
          </a:blip>
          <a:srcRect l="5554" r="5555"/>
          <a:stretch/>
        </p:blipFill>
        <p:spPr>
          <a:xfrm>
            <a:off x="10518654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1436047" y="1433357"/>
            <a:ext cx="7637700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BRAIN: PERSISTENT RULE ENGINE</a:t>
            </a:r>
            <a:endParaRPr lang="en-US" sz="6000" dirty="0"/>
          </a:p>
        </p:txBody>
      </p:sp>
      <p:sp>
        <p:nvSpPr>
          <p:cNvPr id="134" name="Google Shape;134;p15"/>
          <p:cNvSpPr/>
          <p:nvPr/>
        </p:nvSpPr>
        <p:spPr>
          <a:xfrm>
            <a:off x="8254374" y="6642277"/>
            <a:ext cx="2101386" cy="1113735"/>
          </a:xfrm>
          <a:custGeom>
            <a:avLst/>
            <a:gdLst/>
            <a:ahLst/>
            <a:cxnLst/>
            <a:rect l="l" t="t" r="r" b="b"/>
            <a:pathLst>
              <a:path w="2101386" h="1113735" extrusionOk="0">
                <a:moveTo>
                  <a:pt x="0" y="0"/>
                </a:moveTo>
                <a:lnTo>
                  <a:pt x="2101387" y="0"/>
                </a:lnTo>
                <a:lnTo>
                  <a:pt x="2101387" y="1113735"/>
                </a:lnTo>
                <a:lnTo>
                  <a:pt x="0" y="11137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2C11A76-CE36-6349-0452-A19BD2A48C3C}"/>
              </a:ext>
            </a:extLst>
          </p:cNvPr>
          <p:cNvSpPr txBox="1"/>
          <p:nvPr/>
        </p:nvSpPr>
        <p:spPr>
          <a:xfrm>
            <a:off x="1436047" y="4472452"/>
            <a:ext cx="6688143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chemeClr val="bg1"/>
                </a:solidFill>
              </a:rPr>
              <a:t>AresGuard</a:t>
            </a:r>
            <a:r>
              <a:rPr lang="en-US" sz="1800" dirty="0">
                <a:solidFill>
                  <a:schemeClr val="bg1"/>
                </a:solidFill>
              </a:rPr>
              <a:t> implements a deterministic logic engine that consumes telemetry in real-time to enforce safety protocols.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Dynamic Evaluation</a:t>
            </a:r>
            <a:r>
              <a:rPr lang="en-US" sz="1800" dirty="0">
                <a:solidFill>
                  <a:schemeClr val="bg1"/>
                </a:solidFill>
              </a:rPr>
              <a:t>: Simple </a:t>
            </a:r>
            <a:r>
              <a:rPr lang="en-US" sz="1800" b="1" dirty="0">
                <a:solidFill>
                  <a:schemeClr val="bg1"/>
                </a:solidFill>
              </a:rPr>
              <a:t>IF-THEN</a:t>
            </a:r>
            <a:r>
              <a:rPr lang="en-US" sz="1800" dirty="0">
                <a:solidFill>
                  <a:schemeClr val="bg1"/>
                </a:solidFill>
              </a:rPr>
              <a:t> logic triggers actuators instantly when thresholds are breached. Syntax: </a:t>
            </a:r>
            <a:r>
              <a:rPr lang="en-US" sz="1800" b="1" dirty="0">
                <a:solidFill>
                  <a:schemeClr val="bg1"/>
                </a:solidFill>
              </a:rPr>
              <a:t>IF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i="1" dirty="0">
                <a:solidFill>
                  <a:schemeClr val="bg1"/>
                </a:solidFill>
              </a:rPr>
              <a:t>&lt;sensor&gt; &lt;operator&gt; &lt;value&gt; </a:t>
            </a:r>
            <a:r>
              <a:rPr lang="en-US" sz="1800" b="1" dirty="0">
                <a:solidFill>
                  <a:schemeClr val="bg1"/>
                </a:solidFill>
              </a:rPr>
              <a:t>THEN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i="1" dirty="0">
                <a:solidFill>
                  <a:schemeClr val="bg1"/>
                </a:solidFill>
              </a:rPr>
              <a:t>&lt;actuator&gt; </a:t>
            </a:r>
            <a:r>
              <a:rPr lang="en-US" sz="1800" dirty="0">
                <a:solidFill>
                  <a:schemeClr val="bg1"/>
                </a:solidFill>
              </a:rPr>
              <a:t>= </a:t>
            </a:r>
            <a:r>
              <a:rPr lang="en-US" sz="1800" b="1" dirty="0">
                <a:solidFill>
                  <a:schemeClr val="bg1"/>
                </a:solidFill>
              </a:rPr>
              <a:t>ON</a:t>
            </a:r>
            <a:r>
              <a:rPr lang="en-US" sz="1800" dirty="0">
                <a:solidFill>
                  <a:schemeClr val="bg1"/>
                </a:solidFill>
              </a:rPr>
              <a:t>/</a:t>
            </a:r>
            <a:r>
              <a:rPr lang="en-US" sz="1800" b="1" dirty="0">
                <a:solidFill>
                  <a:schemeClr val="bg1"/>
                </a:solidFill>
              </a:rPr>
              <a:t>OFF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800" b="1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Resilient Persistence</a:t>
            </a:r>
            <a:r>
              <a:rPr lang="en-US" sz="1800" dirty="0">
                <a:solidFill>
                  <a:schemeClr val="bg1"/>
                </a:solidFill>
              </a:rPr>
              <a:t>: Rules are not just in RAM. They are stored in PostgreSQL, ensuring safety protocols survive system reboots or crashes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Smart Conflict Resolution</a:t>
            </a:r>
            <a:r>
              <a:rPr lang="en-US" sz="1800" dirty="0">
                <a:solidFill>
                  <a:schemeClr val="bg1"/>
                </a:solidFill>
              </a:rPr>
              <a:t>: A database-level constraint </a:t>
            </a:r>
            <a:r>
              <a:rPr lang="en-US" sz="1800" b="1" i="1" dirty="0">
                <a:solidFill>
                  <a:schemeClr val="bg1"/>
                </a:solidFill>
              </a:rPr>
              <a:t>UNIQUE</a:t>
            </a:r>
            <a:r>
              <a:rPr lang="en-US" sz="1800" i="1" dirty="0">
                <a:solidFill>
                  <a:schemeClr val="bg1"/>
                </a:solidFill>
              </a:rPr>
              <a:t>(sensor, actuator, operator) </a:t>
            </a:r>
            <a:r>
              <a:rPr lang="en-US" sz="1800" dirty="0">
                <a:solidFill>
                  <a:schemeClr val="bg1"/>
                </a:solidFill>
              </a:rPr>
              <a:t>prevents logic collisions. The system uses </a:t>
            </a:r>
            <a:r>
              <a:rPr lang="en-US" sz="1800" b="1" dirty="0">
                <a:solidFill>
                  <a:schemeClr val="bg1"/>
                </a:solidFill>
              </a:rPr>
              <a:t>UPSERT</a:t>
            </a:r>
            <a:r>
              <a:rPr lang="en-US" sz="1800" dirty="0">
                <a:solidFill>
                  <a:schemeClr val="bg1"/>
                </a:solidFill>
              </a:rPr>
              <a:t> to automatically update existing rules instead of creating duplicates</a:t>
            </a:r>
            <a:endParaRPr lang="it-IT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18"/>
          <p:cNvGrpSpPr/>
          <p:nvPr/>
        </p:nvGrpSpPr>
        <p:grpSpPr>
          <a:xfrm>
            <a:off x="777407" y="272955"/>
            <a:ext cx="16759966" cy="9567081"/>
            <a:chOff x="0" y="-47625"/>
            <a:chExt cx="4259780" cy="2215092"/>
          </a:xfrm>
        </p:grpSpPr>
        <p:sp>
          <p:nvSpPr>
            <p:cNvPr id="175" name="Google Shape;175;p18"/>
            <p:cNvSpPr/>
            <p:nvPr/>
          </p:nvSpPr>
          <p:spPr>
            <a:xfrm>
              <a:off x="0" y="0"/>
              <a:ext cx="4259780" cy="2167467"/>
            </a:xfrm>
            <a:custGeom>
              <a:avLst/>
              <a:gdLst/>
              <a:ahLst/>
              <a:cxnLst/>
              <a:rect l="l" t="t" r="r" b="b"/>
              <a:pathLst>
                <a:path w="4259780" h="2167467" extrusionOk="0">
                  <a:moveTo>
                    <a:pt x="0" y="0"/>
                  </a:moveTo>
                  <a:lnTo>
                    <a:pt x="4259780" y="0"/>
                  </a:lnTo>
                  <a:lnTo>
                    <a:pt x="4259780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71CBE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76" name="Google Shape;176;p18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18"/>
          <p:cNvSpPr txBox="1"/>
          <p:nvPr/>
        </p:nvSpPr>
        <p:spPr>
          <a:xfrm>
            <a:off x="1438275" y="1526171"/>
            <a:ext cx="8306885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MISSION CONTROL INTERFACE</a:t>
            </a:r>
            <a:endParaRPr sz="4800" dirty="0"/>
          </a:p>
        </p:txBody>
      </p:sp>
      <p:sp>
        <p:nvSpPr>
          <p:cNvPr id="178" name="Google Shape;178;p18"/>
          <p:cNvSpPr txBox="1"/>
          <p:nvPr/>
        </p:nvSpPr>
        <p:spPr>
          <a:xfrm>
            <a:off x="1438275" y="4114800"/>
            <a:ext cx="3870752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71CBEF"/>
                </a:solidFill>
                <a:latin typeface="Arial"/>
                <a:ea typeface="Arial"/>
                <a:cs typeface="Arial"/>
                <a:sym typeface="Arial"/>
              </a:rPr>
              <a:t>Zero-Latency Updates</a:t>
            </a:r>
            <a:endParaRPr lang="en-US" sz="2400" b="1" dirty="0"/>
          </a:p>
        </p:txBody>
      </p:sp>
      <p:sp>
        <p:nvSpPr>
          <p:cNvPr id="179" name="Google Shape;179;p18"/>
          <p:cNvSpPr txBox="1"/>
          <p:nvPr/>
        </p:nvSpPr>
        <p:spPr>
          <a:xfrm>
            <a:off x="6110669" y="4114800"/>
            <a:ext cx="4032753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71CBEF"/>
                </a:solidFill>
                <a:latin typeface="Arial"/>
                <a:ea typeface="Arial"/>
                <a:cs typeface="Arial"/>
                <a:sym typeface="Arial"/>
              </a:rPr>
              <a:t>Lightweight Tech Stack</a:t>
            </a:r>
            <a:endParaRPr lang="en-US" sz="2400" b="1" dirty="0"/>
          </a:p>
        </p:txBody>
      </p:sp>
      <p:sp>
        <p:nvSpPr>
          <p:cNvPr id="180" name="Google Shape;180;p18"/>
          <p:cNvSpPr txBox="1"/>
          <p:nvPr/>
        </p:nvSpPr>
        <p:spPr>
          <a:xfrm>
            <a:off x="3863507" y="6765643"/>
            <a:ext cx="3870752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71CBEF"/>
                </a:solidFill>
                <a:latin typeface="Arial"/>
                <a:ea typeface="Arial"/>
                <a:cs typeface="Arial"/>
                <a:sym typeface="Arial"/>
              </a:rPr>
              <a:t>Astronaut-Centric UX</a:t>
            </a:r>
            <a:endParaRPr sz="2400" b="1" dirty="0"/>
          </a:p>
        </p:txBody>
      </p:sp>
      <p:sp>
        <p:nvSpPr>
          <p:cNvPr id="182" name="Google Shape;182;p18"/>
          <p:cNvSpPr txBox="1"/>
          <p:nvPr/>
        </p:nvSpPr>
        <p:spPr>
          <a:xfrm>
            <a:off x="1438275" y="4663368"/>
            <a:ext cx="387090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The API Gateway pushes telemetry via </a:t>
            </a:r>
            <a:r>
              <a:rPr lang="en-US" sz="20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WebSocket</a:t>
            </a:r>
            <a:r>
              <a:rPr lang="en-US" sz="20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(/</a:t>
            </a:r>
            <a:r>
              <a:rPr lang="en-US" sz="20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ws</a:t>
            </a:r>
            <a:r>
              <a:rPr lang="en-US" sz="20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) directly to the browser.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Immediate state synchronization without manual page reloads (Push vs Pull).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6110669" y="4665102"/>
            <a:ext cx="3870900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Pure Vanilla JS</a:t>
            </a:r>
            <a:r>
              <a:rPr lang="en-US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Built with native HTML5, CSS3, and JavaScript. No heavy frameworks ensures maximum performance on constrained hardware.</a:t>
            </a:r>
            <a:endParaRPr lang="en-US" sz="2000" dirty="0"/>
          </a:p>
        </p:txBody>
      </p:sp>
      <p:sp>
        <p:nvSpPr>
          <p:cNvPr id="184" name="Google Shape;184;p18"/>
          <p:cNvSpPr txBox="1"/>
          <p:nvPr/>
        </p:nvSpPr>
        <p:spPr>
          <a:xfrm>
            <a:off x="2728317" y="7414535"/>
            <a:ext cx="5726800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Dark Mode</a:t>
            </a:r>
            <a:r>
              <a:rPr lang="en-US" sz="2000" dirty="0">
                <a:solidFill>
                  <a:schemeClr val="bg1"/>
                </a:solidFill>
              </a:rPr>
              <a:t>: High-contrast UI designed for low-light habitat environments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Visual Alarms</a:t>
            </a:r>
            <a:r>
              <a:rPr lang="en-US" sz="2000" dirty="0">
                <a:solidFill>
                  <a:schemeClr val="bg1"/>
                </a:solidFill>
              </a:rPr>
              <a:t>: Sensor cards flash RED instantly when safety thresholds are breached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Interactive Data</a:t>
            </a:r>
            <a:r>
              <a:rPr lang="en-US" sz="2000" dirty="0">
                <a:solidFill>
                  <a:schemeClr val="bg1"/>
                </a:solidFill>
              </a:rPr>
              <a:t>: Integrated Chart.js renders historical trends on-demand for deep analysis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endParaRPr sz="2000" dirty="0">
              <a:solidFill>
                <a:schemeClr val="bg1"/>
              </a:solidFill>
            </a:endParaRPr>
          </a:p>
        </p:txBody>
      </p:sp>
      <p:pic>
        <p:nvPicPr>
          <p:cNvPr id="186" name="Google Shape;186;p18"/>
          <p:cNvPicPr preferRelativeResize="0"/>
          <p:nvPr/>
        </p:nvPicPr>
        <p:blipFill>
          <a:blip r:embed="rId3"/>
          <a:srcRect r="50597"/>
          <a:stretch/>
        </p:blipFill>
        <p:spPr>
          <a:xfrm>
            <a:off x="9981569" y="1526171"/>
            <a:ext cx="7337440" cy="78771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ECB695AD-C4EB-8581-1828-707A8C518F38}"/>
              </a:ext>
            </a:extLst>
          </p:cNvPr>
          <p:cNvSpPr txBox="1"/>
          <p:nvPr/>
        </p:nvSpPr>
        <p:spPr>
          <a:xfrm>
            <a:off x="1438275" y="3379943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Real-Time Situational Awareness</a:t>
            </a:r>
            <a:endParaRPr lang="it-IT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oogle Shape;277;p23"/>
          <p:cNvGrpSpPr/>
          <p:nvPr/>
        </p:nvGrpSpPr>
        <p:grpSpPr>
          <a:xfrm>
            <a:off x="1293927" y="847874"/>
            <a:ext cx="15965373" cy="8311621"/>
            <a:chOff x="0" y="-47625"/>
            <a:chExt cx="4204872" cy="2189069"/>
          </a:xfrm>
        </p:grpSpPr>
        <p:sp>
          <p:nvSpPr>
            <p:cNvPr id="278" name="Google Shape;278;p23"/>
            <p:cNvSpPr/>
            <p:nvPr/>
          </p:nvSpPr>
          <p:spPr>
            <a:xfrm>
              <a:off x="0" y="0"/>
              <a:ext cx="4204872" cy="2141444"/>
            </a:xfrm>
            <a:custGeom>
              <a:avLst/>
              <a:gdLst/>
              <a:ahLst/>
              <a:cxnLst/>
              <a:rect l="l" t="t" r="r" b="b"/>
              <a:pathLst>
                <a:path w="4204872" h="2141444" extrusionOk="0">
                  <a:moveTo>
                    <a:pt x="0" y="0"/>
                  </a:moveTo>
                  <a:lnTo>
                    <a:pt x="4204872" y="0"/>
                  </a:lnTo>
                  <a:lnTo>
                    <a:pt x="4204872" y="2141444"/>
                  </a:lnTo>
                  <a:lnTo>
                    <a:pt x="0" y="21414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71CBE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279" name="Google Shape;279;p23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5" name="Google Shape;275;p23"/>
          <p:cNvSpPr txBox="1"/>
          <p:nvPr/>
        </p:nvSpPr>
        <p:spPr>
          <a:xfrm>
            <a:off x="3597112" y="1355266"/>
            <a:ext cx="11359002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DEPLOYMENT &amp; ORCHESTRATION</a:t>
            </a:r>
            <a:endParaRPr lang="en-US" sz="4400" dirty="0"/>
          </a:p>
        </p:txBody>
      </p:sp>
      <p:sp>
        <p:nvSpPr>
          <p:cNvPr id="276" name="Google Shape;276;p23"/>
          <p:cNvSpPr txBox="1"/>
          <p:nvPr/>
        </p:nvSpPr>
        <p:spPr>
          <a:xfrm>
            <a:off x="12131608" y="2473885"/>
            <a:ext cx="4717293" cy="224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 err="1">
                <a:solidFill>
                  <a:schemeClr val="tx2"/>
                </a:solidFill>
              </a:rPr>
              <a:t>Containerized</a:t>
            </a:r>
            <a:r>
              <a:rPr lang="it-IT" sz="2400" b="1" dirty="0">
                <a:solidFill>
                  <a:schemeClr val="tx2"/>
                </a:solidFill>
              </a:rPr>
              <a:t> </a:t>
            </a:r>
            <a:r>
              <a:rPr lang="it-IT" sz="2400" b="1" dirty="0" err="1">
                <a:solidFill>
                  <a:schemeClr val="tx2"/>
                </a:solidFill>
              </a:rPr>
              <a:t>Stack</a:t>
            </a:r>
            <a:endParaRPr lang="it-IT" sz="2400" b="1" dirty="0">
              <a:solidFill>
                <a:schemeClr val="tx2"/>
              </a:solidFill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it-IT" sz="800" b="1" dirty="0">
              <a:solidFill>
                <a:schemeClr val="tx2"/>
              </a:solidFill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The entire mission ecosystem (Ingestion, Broker, DB, Frontend) is defined in a single </a:t>
            </a:r>
            <a:r>
              <a:rPr lang="en-US" sz="2000" dirty="0">
                <a:solidFill>
                  <a:schemeClr val="tx2"/>
                </a:solidFill>
              </a:rPr>
              <a:t>docker-</a:t>
            </a:r>
            <a:r>
              <a:rPr lang="en-US" sz="2000" dirty="0" err="1">
                <a:solidFill>
                  <a:schemeClr val="tx2"/>
                </a:solidFill>
              </a:rPr>
              <a:t>compose.yml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file. No manual installation is required.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9" name="Google Shape;276;p23">
            <a:extLst>
              <a:ext uri="{FF2B5EF4-FFF2-40B4-BE49-F238E27FC236}">
                <a16:creationId xmlns:a16="http://schemas.microsoft.com/office/drawing/2014/main" id="{128B5F84-DD4F-7E8B-B973-2DE3A80BA5D0}"/>
              </a:ext>
            </a:extLst>
          </p:cNvPr>
          <p:cNvSpPr txBox="1"/>
          <p:nvPr/>
        </p:nvSpPr>
        <p:spPr>
          <a:xfrm>
            <a:off x="12131607" y="5608943"/>
            <a:ext cx="4717293" cy="2440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dirty="0">
                <a:solidFill>
                  <a:schemeClr val="tx2"/>
                </a:solidFill>
              </a:rPr>
              <a:t>12 </a:t>
            </a:r>
            <a:r>
              <a:rPr lang="it-IT" sz="2400" b="1" dirty="0" err="1">
                <a:solidFill>
                  <a:schemeClr val="tx2"/>
                </a:solidFill>
              </a:rPr>
              <a:t>Factor</a:t>
            </a:r>
            <a:r>
              <a:rPr lang="it-IT" sz="2400" b="1" dirty="0">
                <a:solidFill>
                  <a:schemeClr val="tx2"/>
                </a:solidFill>
              </a:rPr>
              <a:t> </a:t>
            </a:r>
            <a:r>
              <a:rPr lang="it-IT" sz="2400" b="1" dirty="0" err="1">
                <a:solidFill>
                  <a:schemeClr val="tx2"/>
                </a:solidFill>
              </a:rPr>
              <a:t>Portability</a:t>
            </a:r>
            <a:endParaRPr lang="it-IT" sz="2400" b="1" dirty="0">
              <a:solidFill>
                <a:schemeClr val="tx2"/>
              </a:solidFill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it-IT" sz="800" b="1" dirty="0">
              <a:solidFill>
                <a:schemeClr val="tx2"/>
              </a:solidFill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We strictly use Environment Variables (</a:t>
            </a:r>
            <a:r>
              <a:rPr lang="en-US" sz="1800" dirty="0" err="1">
                <a:solidFill>
                  <a:schemeClr val="bg1"/>
                </a:solidFill>
              </a:rPr>
              <a:t>os.getenv</a:t>
            </a:r>
            <a:r>
              <a:rPr lang="en-US" sz="1800" dirty="0">
                <a:solidFill>
                  <a:schemeClr val="bg1"/>
                </a:solidFill>
              </a:rPr>
              <a:t>) for configuration. The system is </a:t>
            </a:r>
            <a:r>
              <a:rPr lang="en-US" sz="1800" dirty="0">
                <a:solidFill>
                  <a:schemeClr val="tx2"/>
                </a:solidFill>
              </a:rPr>
              <a:t>agnostic</a:t>
            </a:r>
            <a:r>
              <a:rPr lang="en-US" sz="1800" dirty="0">
                <a:solidFill>
                  <a:schemeClr val="bg1"/>
                </a:solidFill>
              </a:rPr>
              <a:t>: it runs identically on a developer laptop or a cloud server without code changes.</a:t>
            </a:r>
            <a:endParaRPr lang="it-IT" sz="1800" dirty="0">
              <a:solidFill>
                <a:schemeClr val="bg1"/>
              </a:solidFill>
            </a:endParaRPr>
          </a:p>
        </p:txBody>
      </p:sp>
      <p:pic>
        <p:nvPicPr>
          <p:cNvPr id="12" name="Immagine 11" descr="Immagine che contiene testo, schermata, software, schermo&#10;&#10;Il contenuto generato dall'IA potrebbe non essere corretto.">
            <a:extLst>
              <a:ext uri="{FF2B5EF4-FFF2-40B4-BE49-F238E27FC236}">
                <a16:creationId xmlns:a16="http://schemas.microsoft.com/office/drawing/2014/main" id="{9641B1AF-3CB0-E0E8-984C-D0DCE0E0FD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90" r="38103" b="31271"/>
          <a:stretch/>
        </p:blipFill>
        <p:spPr>
          <a:xfrm>
            <a:off x="2181377" y="2988860"/>
            <a:ext cx="9105893" cy="47221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2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294" name="Google Shape;294;p24"/>
            <p:cNvSpPr/>
            <p:nvPr/>
          </p:nvSpPr>
          <p:spPr>
            <a:xfrm rot="5400000">
              <a:off x="8503696" y="-8503696"/>
              <a:ext cx="7376608" cy="24384000"/>
            </a:xfrm>
            <a:custGeom>
              <a:avLst/>
              <a:gdLst/>
              <a:ahLst/>
              <a:cxnLst/>
              <a:rect l="l" t="t" r="r" b="b"/>
              <a:pathLst>
                <a:path w="7376608" h="24384000" extrusionOk="0">
                  <a:moveTo>
                    <a:pt x="0" y="0"/>
                  </a:moveTo>
                  <a:lnTo>
                    <a:pt x="7376608" y="0"/>
                  </a:lnTo>
                  <a:lnTo>
                    <a:pt x="7376608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5548" r="-205007"/>
              </a:stretch>
            </a:blipFill>
            <a:ln>
              <a:noFill/>
            </a:ln>
          </p:spPr>
        </p:sp>
        <p:sp>
          <p:nvSpPr>
            <p:cNvPr id="295" name="Google Shape;295;p24"/>
            <p:cNvSpPr/>
            <p:nvPr/>
          </p:nvSpPr>
          <p:spPr>
            <a:xfrm rot="5400000" flipH="1">
              <a:off x="9022304" y="-1645696"/>
              <a:ext cx="6339392" cy="24384000"/>
            </a:xfrm>
            <a:custGeom>
              <a:avLst/>
              <a:gdLst/>
              <a:ahLst/>
              <a:cxnLst/>
              <a:rect l="l" t="t" r="r" b="b"/>
              <a:pathLst>
                <a:path w="6339392" h="24384000" extrusionOk="0">
                  <a:moveTo>
                    <a:pt x="0" y="24384000"/>
                  </a:moveTo>
                  <a:lnTo>
                    <a:pt x="6339392" y="24384000"/>
                  </a:lnTo>
                  <a:lnTo>
                    <a:pt x="6339392" y="0"/>
                  </a:lnTo>
                  <a:lnTo>
                    <a:pt x="0" y="0"/>
                  </a:lnTo>
                  <a:lnTo>
                    <a:pt x="0" y="2438400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9726" r="-254888"/>
              </a:stretch>
            </a:blipFill>
            <a:ln>
              <a:noFill/>
            </a:ln>
          </p:spPr>
        </p:sp>
      </p:grpSp>
      <p:grpSp>
        <p:nvGrpSpPr>
          <p:cNvPr id="296" name="Google Shape;296;p24"/>
          <p:cNvGrpSpPr/>
          <p:nvPr/>
        </p:nvGrpSpPr>
        <p:grpSpPr>
          <a:xfrm>
            <a:off x="770278" y="798032"/>
            <a:ext cx="16771083" cy="8774008"/>
            <a:chOff x="0" y="-47625"/>
            <a:chExt cx="4417075" cy="2310850"/>
          </a:xfrm>
        </p:grpSpPr>
        <p:sp>
          <p:nvSpPr>
            <p:cNvPr id="297" name="Google Shape;297;p24"/>
            <p:cNvSpPr/>
            <p:nvPr/>
          </p:nvSpPr>
          <p:spPr>
            <a:xfrm>
              <a:off x="0" y="0"/>
              <a:ext cx="4417075" cy="2263225"/>
            </a:xfrm>
            <a:custGeom>
              <a:avLst/>
              <a:gdLst/>
              <a:ahLst/>
              <a:cxnLst/>
              <a:rect l="l" t="t" r="r" b="b"/>
              <a:pathLst>
                <a:path w="4417075" h="2263225" extrusionOk="0">
                  <a:moveTo>
                    <a:pt x="0" y="0"/>
                  </a:moveTo>
                  <a:lnTo>
                    <a:pt x="4417075" y="0"/>
                  </a:lnTo>
                  <a:lnTo>
                    <a:pt x="4417075" y="2263225"/>
                  </a:lnTo>
                  <a:lnTo>
                    <a:pt x="0" y="2263225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298" name="Google Shape;298;p2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9" name="Google Shape;299;p24"/>
          <p:cNvGrpSpPr/>
          <p:nvPr/>
        </p:nvGrpSpPr>
        <p:grpSpPr>
          <a:xfrm>
            <a:off x="1293927" y="1248805"/>
            <a:ext cx="15657332" cy="7789390"/>
            <a:chOff x="0" y="-47625"/>
            <a:chExt cx="4123742" cy="2051527"/>
          </a:xfrm>
        </p:grpSpPr>
        <p:sp>
          <p:nvSpPr>
            <p:cNvPr id="300" name="Google Shape;300;p24"/>
            <p:cNvSpPr/>
            <p:nvPr/>
          </p:nvSpPr>
          <p:spPr>
            <a:xfrm>
              <a:off x="0" y="0"/>
              <a:ext cx="4123742" cy="2003902"/>
            </a:xfrm>
            <a:custGeom>
              <a:avLst/>
              <a:gdLst/>
              <a:ahLst/>
              <a:cxnLst/>
              <a:rect l="l" t="t" r="r" b="b"/>
              <a:pathLst>
                <a:path w="4123742" h="2003902" extrusionOk="0">
                  <a:moveTo>
                    <a:pt x="0" y="0"/>
                  </a:moveTo>
                  <a:lnTo>
                    <a:pt x="4123742" y="0"/>
                  </a:lnTo>
                  <a:lnTo>
                    <a:pt x="4123742" y="2003902"/>
                  </a:lnTo>
                  <a:lnTo>
                    <a:pt x="0" y="20039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71CBE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01" name="Google Shape;301;p2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302" name="Google Shape;302;p24"/>
          <p:cNvGraphicFramePr/>
          <p:nvPr>
            <p:extLst>
              <p:ext uri="{D42A27DB-BD31-4B8C-83A1-F6EECF244321}">
                <p14:modId xmlns:p14="http://schemas.microsoft.com/office/powerpoint/2010/main" val="2040393242"/>
              </p:ext>
            </p:extLst>
          </p:nvPr>
        </p:nvGraphicFramePr>
        <p:xfrm>
          <a:off x="1982369" y="4187480"/>
          <a:ext cx="13951100" cy="2316520"/>
        </p:xfrm>
        <a:graphic>
          <a:graphicData uri="http://schemas.openxmlformats.org/drawingml/2006/table">
            <a:tbl>
              <a:tblPr>
                <a:noFill/>
                <a:tableStyleId>{0FB22262-EE91-4951-AA39-8F43F4CDB637}</a:tableStyleId>
              </a:tblPr>
              <a:tblGrid>
                <a:gridCol w="4384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9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1448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99" u="none" strike="noStrike" cap="none" dirty="0">
                          <a:solidFill>
                            <a:srgbClr val="71CB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LOGIC CONFLICTS</a:t>
                      </a:r>
                      <a:endParaRPr sz="1100" u="none" strike="noStrike" cap="none" dirty="0"/>
                    </a:p>
                  </a:txBody>
                  <a:tcPr marL="190500" marR="190500" marT="190500" marB="190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99" u="none" strike="noStrike" cap="none" dirty="0">
                          <a:solidFill>
                            <a:srgbClr val="71CB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INPUT VALIDATION</a:t>
                      </a:r>
                      <a:endParaRPr sz="1100" u="none" strike="noStrike" cap="none" dirty="0"/>
                    </a:p>
                  </a:txBody>
                  <a:tcPr marL="190500" marR="190500" marT="190500" marB="190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99" u="none" strike="noStrike" cap="none" dirty="0">
                          <a:solidFill>
                            <a:srgbClr val="71CB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OBSERVABILITY</a:t>
                      </a:r>
                      <a:endParaRPr sz="1100" u="none" strike="noStrike" cap="none" dirty="0"/>
                    </a:p>
                  </a:txBody>
                  <a:tcPr marL="190500" marR="190500" marT="190500" marB="190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203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190500" marR="190500" marT="190500" marB="190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190500" marR="190500" marT="190500" marB="190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190500" marR="190500" marT="190500" marB="1905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3" name="Google Shape;303;p24"/>
          <p:cNvSpPr txBox="1"/>
          <p:nvPr/>
        </p:nvSpPr>
        <p:spPr>
          <a:xfrm>
            <a:off x="1336741" y="1879831"/>
            <a:ext cx="15614518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ENGINEERING CHALLENGES &amp; SOLUTIONS</a:t>
            </a:r>
            <a:endParaRPr sz="4800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D07C2E7A-0025-DB61-0403-406B4CFD8889}"/>
              </a:ext>
            </a:extLst>
          </p:cNvPr>
          <p:cNvSpPr txBox="1"/>
          <p:nvPr/>
        </p:nvSpPr>
        <p:spPr>
          <a:xfrm>
            <a:off x="1816694" y="292286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Beyond the Basic Requirements</a:t>
            </a:r>
            <a:endParaRPr lang="it-IT" sz="2400" b="1" dirty="0">
              <a:solidFill>
                <a:schemeClr val="bg1"/>
              </a:solidFill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9F23E8C-7349-1767-87A9-075293311BC4}"/>
              </a:ext>
            </a:extLst>
          </p:cNvPr>
          <p:cNvSpPr txBox="1"/>
          <p:nvPr/>
        </p:nvSpPr>
        <p:spPr>
          <a:xfrm>
            <a:off x="1941889" y="5494289"/>
            <a:ext cx="470368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The Problem</a:t>
            </a:r>
            <a:r>
              <a:rPr lang="en-US" sz="1800" dirty="0">
                <a:solidFill>
                  <a:schemeClr val="bg1"/>
                </a:solidFill>
              </a:rPr>
              <a:t>: What if a user defines two contradictory rules for the same sensor (e.g., &gt; 20 and &gt; 25)?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The Solution</a:t>
            </a:r>
            <a:r>
              <a:rPr lang="en-US" sz="1800" dirty="0">
                <a:solidFill>
                  <a:schemeClr val="bg1"/>
                </a:solidFill>
              </a:rPr>
              <a:t>: We implemented a strict Database Constraint UNIQUE(sensor, actuator, operator). The backend uses UPSERT logic: new rules automatically update existing ones instead of creating ambiguous duplicates</a:t>
            </a:r>
            <a:endParaRPr lang="it-IT" sz="1800" dirty="0">
              <a:solidFill>
                <a:schemeClr val="bg1"/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E70B273-1782-0C68-BEF2-B83861CE67E6}"/>
              </a:ext>
            </a:extLst>
          </p:cNvPr>
          <p:cNvSpPr txBox="1"/>
          <p:nvPr/>
        </p:nvSpPr>
        <p:spPr>
          <a:xfrm>
            <a:off x="6887059" y="5494289"/>
            <a:ext cx="46364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The Problem</a:t>
            </a:r>
            <a:r>
              <a:rPr lang="en-US" sz="1800" dirty="0">
                <a:solidFill>
                  <a:schemeClr val="bg1"/>
                </a:solidFill>
              </a:rPr>
              <a:t>: Preventing "</a:t>
            </a:r>
            <a:r>
              <a:rPr lang="en-US" sz="1800" dirty="0">
                <a:solidFill>
                  <a:schemeClr val="tx2"/>
                </a:solidFill>
              </a:rPr>
              <a:t>Garbage In, Garbage Out</a:t>
            </a:r>
            <a:r>
              <a:rPr lang="en-US" sz="1800" dirty="0">
                <a:solidFill>
                  <a:schemeClr val="bg1"/>
                </a:solidFill>
              </a:rPr>
              <a:t>" (e.g., setting a temperature threshold of -500°C)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The Solution</a:t>
            </a:r>
            <a:r>
              <a:rPr lang="en-US" sz="1800" dirty="0">
                <a:solidFill>
                  <a:schemeClr val="bg1"/>
                </a:solidFill>
              </a:rPr>
              <a:t>: The UI enforces physical limits based on sensor types before sending data to the API. </a:t>
            </a:r>
            <a:r>
              <a:rPr lang="en-US" sz="1800" i="1" dirty="0">
                <a:solidFill>
                  <a:schemeClr val="bg1"/>
                </a:solidFill>
              </a:rPr>
              <a:t>Result: Invalid commands are rejected at the source, reducing backend load</a:t>
            </a:r>
            <a:endParaRPr lang="it-IT" sz="1800" i="1" dirty="0">
              <a:solidFill>
                <a:schemeClr val="bg1"/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D974A32-B661-64C3-87B5-8960EF8AAC30}"/>
              </a:ext>
            </a:extLst>
          </p:cNvPr>
          <p:cNvSpPr txBox="1"/>
          <p:nvPr/>
        </p:nvSpPr>
        <p:spPr>
          <a:xfrm>
            <a:off x="11836822" y="5523599"/>
            <a:ext cx="433813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The Problem</a:t>
            </a:r>
            <a:r>
              <a:rPr lang="en-US" sz="1800" dirty="0">
                <a:solidFill>
                  <a:schemeClr val="bg1"/>
                </a:solidFill>
              </a:rPr>
              <a:t>: Debugging a distributed asynchronous system is difficult when events happen in milliseconds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The Solution</a:t>
            </a:r>
            <a:r>
              <a:rPr lang="en-US" sz="1800" dirty="0">
                <a:solidFill>
                  <a:schemeClr val="bg1"/>
                </a:solidFill>
              </a:rPr>
              <a:t>: We built a custom "Expand View" in the dashboard log. It allows operators to inspect the full JSON payload of every automated action without cluttering the main UI</a:t>
            </a:r>
            <a:endParaRPr lang="it-IT" sz="1800" i="1" dirty="0">
              <a:solidFill>
                <a:schemeClr val="bg1"/>
              </a:solidFill>
            </a:endParaRPr>
          </a:p>
        </p:txBody>
      </p:sp>
      <p:pic>
        <p:nvPicPr>
          <p:cNvPr id="7" name="Immagine 6" descr="Immagine che contiene logo, simbolo, Elementi grafici, design&#10;&#10;Il contenuto generato dall'IA potrebbe non essere corretto.">
            <a:extLst>
              <a:ext uri="{FF2B5EF4-FFF2-40B4-BE49-F238E27FC236}">
                <a16:creationId xmlns:a16="http://schemas.microsoft.com/office/drawing/2014/main" id="{D3EDEB2A-6989-96CC-89E7-9517E499AE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8177" y="3541161"/>
            <a:ext cx="968479" cy="968479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36F35A5F-0084-7167-9BC1-A032052834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1305" y="3541160"/>
            <a:ext cx="968479" cy="968479"/>
          </a:xfrm>
          <a:prstGeom prst="rect">
            <a:avLst/>
          </a:prstGeom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3C780F35-82D3-BC72-E993-CD9B57DB27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24433" y="3454718"/>
            <a:ext cx="965207" cy="9652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11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8" name="Google Shape;58;p11"/>
            <p:cNvSpPr/>
            <p:nvPr/>
          </p:nvSpPr>
          <p:spPr>
            <a:xfrm rot="5400000">
              <a:off x="8503696" y="-8503696"/>
              <a:ext cx="7376608" cy="24384000"/>
            </a:xfrm>
            <a:custGeom>
              <a:avLst/>
              <a:gdLst/>
              <a:ahLst/>
              <a:cxnLst/>
              <a:rect l="l" t="t" r="r" b="b"/>
              <a:pathLst>
                <a:path w="7376608" h="24384000" extrusionOk="0">
                  <a:moveTo>
                    <a:pt x="0" y="0"/>
                  </a:moveTo>
                  <a:lnTo>
                    <a:pt x="7376608" y="0"/>
                  </a:lnTo>
                  <a:lnTo>
                    <a:pt x="7376608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5548" r="-205007"/>
              </a:stretch>
            </a:blipFill>
            <a:ln>
              <a:noFill/>
            </a:ln>
          </p:spPr>
        </p:sp>
        <p:sp>
          <p:nvSpPr>
            <p:cNvPr id="59" name="Google Shape;59;p11"/>
            <p:cNvSpPr/>
            <p:nvPr/>
          </p:nvSpPr>
          <p:spPr>
            <a:xfrm rot="5400000" flipH="1">
              <a:off x="9022304" y="-1645696"/>
              <a:ext cx="6339392" cy="24384000"/>
            </a:xfrm>
            <a:custGeom>
              <a:avLst/>
              <a:gdLst/>
              <a:ahLst/>
              <a:cxnLst/>
              <a:rect l="l" t="t" r="r" b="b"/>
              <a:pathLst>
                <a:path w="6339392" h="24384000" extrusionOk="0">
                  <a:moveTo>
                    <a:pt x="0" y="24384000"/>
                  </a:moveTo>
                  <a:lnTo>
                    <a:pt x="6339392" y="24384000"/>
                  </a:lnTo>
                  <a:lnTo>
                    <a:pt x="6339392" y="0"/>
                  </a:lnTo>
                  <a:lnTo>
                    <a:pt x="0" y="0"/>
                  </a:lnTo>
                  <a:lnTo>
                    <a:pt x="0" y="2438400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9726" r="-254888"/>
              </a:stretch>
            </a:blipFill>
            <a:ln>
              <a:noFill/>
            </a:ln>
          </p:spPr>
        </p:sp>
      </p:grpSp>
      <p:grpSp>
        <p:nvGrpSpPr>
          <p:cNvPr id="60" name="Google Shape;60;p11"/>
          <p:cNvGrpSpPr/>
          <p:nvPr/>
        </p:nvGrpSpPr>
        <p:grpSpPr>
          <a:xfrm>
            <a:off x="758458" y="727917"/>
            <a:ext cx="16771083" cy="8774008"/>
            <a:chOff x="0" y="-47625"/>
            <a:chExt cx="4417075" cy="2310850"/>
          </a:xfrm>
        </p:grpSpPr>
        <p:sp>
          <p:nvSpPr>
            <p:cNvPr id="61" name="Google Shape;61;p11"/>
            <p:cNvSpPr/>
            <p:nvPr/>
          </p:nvSpPr>
          <p:spPr>
            <a:xfrm>
              <a:off x="0" y="0"/>
              <a:ext cx="4417075" cy="2263225"/>
            </a:xfrm>
            <a:custGeom>
              <a:avLst/>
              <a:gdLst/>
              <a:ahLst/>
              <a:cxnLst/>
              <a:rect l="l" t="t" r="r" b="b"/>
              <a:pathLst>
                <a:path w="4417075" h="2263225" extrusionOk="0">
                  <a:moveTo>
                    <a:pt x="0" y="0"/>
                  </a:moveTo>
                  <a:lnTo>
                    <a:pt x="4417075" y="0"/>
                  </a:lnTo>
                  <a:lnTo>
                    <a:pt x="4417075" y="2263225"/>
                  </a:lnTo>
                  <a:lnTo>
                    <a:pt x="0" y="2263225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62" name="Google Shape;62;p11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F1A3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p11"/>
          <p:cNvSpPr txBox="1"/>
          <p:nvPr/>
        </p:nvSpPr>
        <p:spPr>
          <a:xfrm>
            <a:off x="2674960" y="4239957"/>
            <a:ext cx="12938078" cy="38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62308" marR="0" lvl="1" indent="-4572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900"/>
              <a:buFont typeface="Arial"/>
              <a:buAutoNum type="arabicPeriod"/>
              <a:tabLst/>
              <a:defRPr/>
            </a:pPr>
            <a:r>
              <a:rPr kumimoji="0" lang="it-IT" sz="1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Architecture</a:t>
            </a:r>
            <a:r>
              <a:rPr kumimoji="0" lang="it-IT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it-IT" sz="1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Compliance</a:t>
            </a:r>
          </a:p>
          <a:p>
            <a:pPr marL="205108" lvl="5">
              <a:lnSpc>
                <a:spcPct val="140000"/>
              </a:lnSpc>
              <a:buClr>
                <a:srgbClr val="FFFFFF"/>
              </a:buClr>
              <a:buSzPts val="1900"/>
            </a:pPr>
            <a:r>
              <a:rPr lang="it-IT" sz="1800" b="1" dirty="0">
                <a:solidFill>
                  <a:srgbClr val="FFFFFF"/>
                </a:solidFill>
              </a:rPr>
              <a:t>       	</a:t>
            </a:r>
            <a:r>
              <a:rPr kumimoji="0" lang="it-IT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Microservices</a:t>
            </a:r>
            <a:r>
              <a:rPr kumimoji="0" lang="it-IT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Fully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containerized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,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decoupled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architecture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(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Ingestion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, Broker,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Backend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,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Frontend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  <a:p>
            <a:pPr marL="205108" lvl="5">
              <a:lnSpc>
                <a:spcPct val="140000"/>
              </a:lnSpc>
              <a:buClr>
                <a:srgbClr val="FFFFFF"/>
              </a:buClr>
              <a:buSzPts val="1900"/>
            </a:pPr>
            <a:r>
              <a:rPr lang="it-IT" sz="1800" dirty="0">
                <a:solidFill>
                  <a:srgbClr val="FFFFFF"/>
                </a:solidFill>
              </a:rPr>
              <a:t>       	</a:t>
            </a:r>
            <a:r>
              <a:rPr kumimoji="0" lang="it-IT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Event-</a:t>
            </a:r>
            <a:r>
              <a:rPr kumimoji="0" lang="it-IT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Driven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Asynchronous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communication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via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RabbitMQ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(Fan-out pattern)</a:t>
            </a:r>
          </a:p>
          <a:p>
            <a:pPr marL="662308" marR="0" lvl="1" indent="-4572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900"/>
              <a:buFont typeface="Arial"/>
              <a:buAutoNum type="arabicPeriod"/>
              <a:tabLst/>
              <a:defRPr/>
            </a:pPr>
            <a:r>
              <a:rPr kumimoji="0" lang="it-IT" sz="18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Functional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it-IT" sz="18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Requirements</a:t>
            </a:r>
            <a:r>
              <a:rPr lang="it-IT" sz="1800" dirty="0">
                <a:solidFill>
                  <a:srgbClr val="FFFFFF"/>
                </a:solidFill>
              </a:rPr>
              <a:t> </a:t>
            </a:r>
          </a:p>
          <a:p>
            <a:pPr marL="205108" marR="0" lvl="1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900"/>
              <a:tabLst/>
              <a:defRPr/>
            </a:pPr>
            <a:r>
              <a:rPr lang="it-IT" sz="1800" dirty="0">
                <a:solidFill>
                  <a:srgbClr val="FFFFFF"/>
                </a:solidFill>
              </a:rPr>
              <a:t>       	</a:t>
            </a:r>
            <a:r>
              <a:rPr kumimoji="0" lang="it-IT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Data </a:t>
            </a:r>
            <a:r>
              <a:rPr kumimoji="0" lang="it-IT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Ingestion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Robust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polling and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normalization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of legacy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sensors</a:t>
            </a:r>
            <a:endParaRPr kumimoji="0" lang="it-IT" sz="180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205108" marR="0" lvl="1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900"/>
              <a:tabLst/>
              <a:defRPr/>
            </a:pPr>
            <a:r>
              <a:rPr lang="it-IT" sz="1800" dirty="0">
                <a:solidFill>
                  <a:srgbClr val="FFFFFF"/>
                </a:solidFill>
              </a:rPr>
              <a:t>       	</a:t>
            </a:r>
            <a:r>
              <a:rPr kumimoji="0" lang="it-IT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Automation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Persistent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Rule Engine with database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integrity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(UNIQUE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constraints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</a:p>
          <a:p>
            <a:pPr marL="205108" marR="0" lvl="1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900"/>
              <a:tabLst/>
              <a:defRPr/>
            </a:pP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      	</a:t>
            </a:r>
            <a:r>
              <a:rPr kumimoji="0" lang="it-IT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Visualization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 Real-time, zero-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latency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dashboard via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WebSockets</a:t>
            </a:r>
            <a:endParaRPr lang="it-IT" sz="1800" dirty="0">
              <a:solidFill>
                <a:srgbClr val="FFFFFF"/>
              </a:solidFill>
            </a:endParaRPr>
          </a:p>
          <a:p>
            <a:pPr marL="662308" marR="0" lvl="1" indent="-4572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900"/>
              <a:buFont typeface="+mj-lt"/>
              <a:buAutoNum type="arabicPeriod" startAt="3"/>
              <a:tabLst/>
              <a:defRPr/>
            </a:pPr>
            <a:r>
              <a:rPr kumimoji="0" lang="it-IT" sz="1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Development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it-IT" sz="1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Standards</a:t>
            </a:r>
            <a:endParaRPr lang="it-IT" sz="1800" b="1" dirty="0">
              <a:solidFill>
                <a:srgbClr val="FFFFFF"/>
              </a:solidFill>
            </a:endParaRPr>
          </a:p>
          <a:p>
            <a:pPr marL="205108" marR="0" lvl="1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900"/>
              <a:tabLst/>
              <a:defRPr/>
            </a:pP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      	</a:t>
            </a:r>
            <a:r>
              <a:rPr kumimoji="0" lang="it-IT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Infrastructure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it-IT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as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it-IT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Code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 Single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docker-compose.yml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for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reproducible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deployment</a:t>
            </a:r>
          </a:p>
          <a:p>
            <a:pPr marL="205108" marR="0" lvl="1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900"/>
              <a:tabLst/>
              <a:defRPr/>
            </a:pPr>
            <a:r>
              <a:rPr lang="it-IT" sz="1800" dirty="0">
                <a:solidFill>
                  <a:srgbClr val="FFFFFF"/>
                </a:solidFill>
              </a:rPr>
              <a:t>       	</a:t>
            </a:r>
            <a:r>
              <a:rPr kumimoji="0" lang="it-IT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Clean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it-IT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Code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 Modular Python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backend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and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optimized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Vanilla</a:t>
            </a:r>
            <a:r>
              <a:rPr kumimoji="0" lang="it-IT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JS </a:t>
            </a:r>
            <a:r>
              <a:rPr kumimoji="0" lang="it-IT" sz="18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frontend</a:t>
            </a:r>
            <a:endParaRPr kumimoji="0" sz="180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4" name="Google Shape;64;p11"/>
          <p:cNvSpPr txBox="1"/>
          <p:nvPr/>
        </p:nvSpPr>
        <p:spPr>
          <a:xfrm>
            <a:off x="1708829" y="1153857"/>
            <a:ext cx="14870342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chivo Black"/>
                <a:ea typeface="Archivo Black"/>
                <a:cs typeface="Archivo Black"/>
                <a:sym typeface="Archivo Black"/>
              </a:rPr>
              <a:t>CONCLUSION</a:t>
            </a:r>
            <a:endParaRPr kumimoji="0" lang="en-US" sz="6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7" name="Google Shape;67;p11"/>
          <p:cNvSpPr txBox="1"/>
          <p:nvPr/>
        </p:nvSpPr>
        <p:spPr>
          <a:xfrm>
            <a:off x="758458" y="3273000"/>
            <a:ext cx="16771083" cy="700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500" b="1" i="0" u="none" strike="noStrike" kern="0" cap="none" spc="0" normalizeH="0" baseline="0" noProof="0" dirty="0">
                <a:ln>
                  <a:noFill/>
                </a:ln>
                <a:solidFill>
                  <a:srgbClr val="71CBEF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t>MISSION STATUS: READY FOR LAUNCH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09282A3-9D96-BE1F-2F01-1C5ADC42479E}"/>
              </a:ext>
            </a:extLst>
          </p:cNvPr>
          <p:cNvSpPr txBox="1"/>
          <p:nvPr/>
        </p:nvSpPr>
        <p:spPr>
          <a:xfrm>
            <a:off x="1708828" y="2334363"/>
            <a:ext cx="14870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chivo Black"/>
                <a:cs typeface="Arial"/>
                <a:sym typeface="Archivo Black"/>
              </a:rPr>
              <a:t>Project Summary &amp; Compliance</a:t>
            </a:r>
            <a:endParaRPr kumimoji="0" lang="it-IT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B842921-254E-2C8B-FC87-55B80D9EBAD2}"/>
              </a:ext>
            </a:extLst>
          </p:cNvPr>
          <p:cNvSpPr txBox="1"/>
          <p:nvPr/>
        </p:nvSpPr>
        <p:spPr>
          <a:xfrm>
            <a:off x="758457" y="8596905"/>
            <a:ext cx="1677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800" b="1" dirty="0">
                <a:solidFill>
                  <a:schemeClr val="tx2"/>
                </a:solidFill>
              </a:rPr>
              <a:t>&gt;&gt; INITIATING LIVE DEMO SEQUENCE…</a:t>
            </a:r>
          </a:p>
        </p:txBody>
      </p:sp>
    </p:spTree>
    <p:extLst>
      <p:ext uri="{BB962C8B-B14F-4D97-AF65-F5344CB8AC3E}">
        <p14:creationId xmlns:p14="http://schemas.microsoft.com/office/powerpoint/2010/main" val="2215337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5" name="Google Shape;415;p29"/>
          <p:cNvGrpSpPr/>
          <p:nvPr/>
        </p:nvGrpSpPr>
        <p:grpSpPr>
          <a:xfrm>
            <a:off x="0" y="-27296"/>
            <a:ext cx="18288000" cy="10287000"/>
            <a:chOff x="0" y="0"/>
            <a:chExt cx="24384000" cy="13716000"/>
          </a:xfrm>
        </p:grpSpPr>
        <p:sp>
          <p:nvSpPr>
            <p:cNvPr id="416" name="Google Shape;416;p29"/>
            <p:cNvSpPr/>
            <p:nvPr/>
          </p:nvSpPr>
          <p:spPr>
            <a:xfrm rot="5400000">
              <a:off x="8503696" y="-8503696"/>
              <a:ext cx="7376608" cy="24384000"/>
            </a:xfrm>
            <a:custGeom>
              <a:avLst/>
              <a:gdLst/>
              <a:ahLst/>
              <a:cxnLst/>
              <a:rect l="l" t="t" r="r" b="b"/>
              <a:pathLst>
                <a:path w="7376608" h="24384000" extrusionOk="0">
                  <a:moveTo>
                    <a:pt x="0" y="0"/>
                  </a:moveTo>
                  <a:lnTo>
                    <a:pt x="7376608" y="0"/>
                  </a:lnTo>
                  <a:lnTo>
                    <a:pt x="7376608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5548" r="-205007"/>
              </a:stretch>
            </a:blipFill>
            <a:ln>
              <a:noFill/>
            </a:ln>
          </p:spPr>
        </p:sp>
        <p:sp>
          <p:nvSpPr>
            <p:cNvPr id="417" name="Google Shape;417;p29"/>
            <p:cNvSpPr/>
            <p:nvPr/>
          </p:nvSpPr>
          <p:spPr>
            <a:xfrm rot="5400000" flipH="1">
              <a:off x="9022304" y="-1645696"/>
              <a:ext cx="6339392" cy="24384000"/>
            </a:xfrm>
            <a:custGeom>
              <a:avLst/>
              <a:gdLst/>
              <a:ahLst/>
              <a:cxnLst/>
              <a:rect l="l" t="t" r="r" b="b"/>
              <a:pathLst>
                <a:path w="6339392" h="24384000" extrusionOk="0">
                  <a:moveTo>
                    <a:pt x="0" y="24384000"/>
                  </a:moveTo>
                  <a:lnTo>
                    <a:pt x="6339392" y="24384000"/>
                  </a:lnTo>
                  <a:lnTo>
                    <a:pt x="6339392" y="0"/>
                  </a:lnTo>
                  <a:lnTo>
                    <a:pt x="0" y="0"/>
                  </a:lnTo>
                  <a:lnTo>
                    <a:pt x="0" y="2438400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9726" r="-254888"/>
              </a:stretch>
            </a:blipFill>
            <a:ln>
              <a:noFill/>
            </a:ln>
          </p:spPr>
        </p:sp>
      </p:grpSp>
      <p:grpSp>
        <p:nvGrpSpPr>
          <p:cNvPr id="418" name="Google Shape;418;p29"/>
          <p:cNvGrpSpPr/>
          <p:nvPr/>
        </p:nvGrpSpPr>
        <p:grpSpPr>
          <a:xfrm>
            <a:off x="770278" y="798032"/>
            <a:ext cx="16771083" cy="8774008"/>
            <a:chOff x="0" y="-47625"/>
            <a:chExt cx="4417075" cy="2310850"/>
          </a:xfrm>
        </p:grpSpPr>
        <p:sp>
          <p:nvSpPr>
            <p:cNvPr id="419" name="Google Shape;419;p29"/>
            <p:cNvSpPr/>
            <p:nvPr/>
          </p:nvSpPr>
          <p:spPr>
            <a:xfrm>
              <a:off x="0" y="0"/>
              <a:ext cx="4417075" cy="2263225"/>
            </a:xfrm>
            <a:custGeom>
              <a:avLst/>
              <a:gdLst/>
              <a:ahLst/>
              <a:cxnLst/>
              <a:rect l="l" t="t" r="r" b="b"/>
              <a:pathLst>
                <a:path w="4417075" h="2263225" extrusionOk="0">
                  <a:moveTo>
                    <a:pt x="0" y="0"/>
                  </a:moveTo>
                  <a:lnTo>
                    <a:pt x="4417075" y="0"/>
                  </a:lnTo>
                  <a:lnTo>
                    <a:pt x="4417075" y="2263225"/>
                  </a:lnTo>
                  <a:lnTo>
                    <a:pt x="0" y="2263225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420" name="Google Shape;420;p29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1" name="Google Shape;421;p29"/>
          <p:cNvGrpSpPr/>
          <p:nvPr/>
        </p:nvGrpSpPr>
        <p:grpSpPr>
          <a:xfrm>
            <a:off x="1293927" y="1289399"/>
            <a:ext cx="15657332" cy="7789390"/>
            <a:chOff x="0" y="-47625"/>
            <a:chExt cx="4123742" cy="2051527"/>
          </a:xfrm>
        </p:grpSpPr>
        <p:sp>
          <p:nvSpPr>
            <p:cNvPr id="422" name="Google Shape;422;p29"/>
            <p:cNvSpPr/>
            <p:nvPr/>
          </p:nvSpPr>
          <p:spPr>
            <a:xfrm>
              <a:off x="0" y="0"/>
              <a:ext cx="4123742" cy="2003902"/>
            </a:xfrm>
            <a:custGeom>
              <a:avLst/>
              <a:gdLst/>
              <a:ahLst/>
              <a:cxnLst/>
              <a:rect l="l" t="t" r="r" b="b"/>
              <a:pathLst>
                <a:path w="4123742" h="2003902" extrusionOk="0">
                  <a:moveTo>
                    <a:pt x="0" y="0"/>
                  </a:moveTo>
                  <a:lnTo>
                    <a:pt x="4123742" y="0"/>
                  </a:lnTo>
                  <a:lnTo>
                    <a:pt x="4123742" y="2003902"/>
                  </a:lnTo>
                  <a:lnTo>
                    <a:pt x="0" y="20039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71CBE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23" name="Google Shape;423;p29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4" name="Google Shape;424;p29"/>
          <p:cNvSpPr txBox="1"/>
          <p:nvPr/>
        </p:nvSpPr>
        <p:spPr>
          <a:xfrm>
            <a:off x="3729072" y="3966278"/>
            <a:ext cx="10829854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MISSION ACCOMPLISHED</a:t>
            </a:r>
            <a:endParaRPr lang="en-US" sz="6000" dirty="0"/>
          </a:p>
        </p:txBody>
      </p:sp>
      <p:sp>
        <p:nvSpPr>
          <p:cNvPr id="425" name="Google Shape;425;p29"/>
          <p:cNvSpPr txBox="1"/>
          <p:nvPr/>
        </p:nvSpPr>
        <p:spPr>
          <a:xfrm>
            <a:off x="5682411" y="5180371"/>
            <a:ext cx="6880363" cy="700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i="1" dirty="0">
                <a:solidFill>
                  <a:srgbClr val="FFFFFF"/>
                </a:solidFill>
              </a:rPr>
              <a:t>Thank you for your attention!</a:t>
            </a:r>
            <a:endParaRPr i="1" dirty="0"/>
          </a:p>
        </p:txBody>
      </p:sp>
      <p:sp>
        <p:nvSpPr>
          <p:cNvPr id="426" name="Google Shape;426;p29"/>
          <p:cNvSpPr/>
          <p:nvPr/>
        </p:nvSpPr>
        <p:spPr>
          <a:xfrm>
            <a:off x="4358480" y="3019785"/>
            <a:ext cx="1475595" cy="782066"/>
          </a:xfrm>
          <a:custGeom>
            <a:avLst/>
            <a:gdLst/>
            <a:ahLst/>
            <a:cxnLst/>
            <a:rect l="l" t="t" r="r" b="b"/>
            <a:pathLst>
              <a:path w="1475595" h="782066" extrusionOk="0">
                <a:moveTo>
                  <a:pt x="0" y="0"/>
                </a:moveTo>
                <a:lnTo>
                  <a:pt x="1475595" y="0"/>
                </a:lnTo>
                <a:lnTo>
                  <a:pt x="1475595" y="782066"/>
                </a:lnTo>
                <a:lnTo>
                  <a:pt x="0" y="7820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27" name="Google Shape;427;p29"/>
          <p:cNvSpPr/>
          <p:nvPr/>
        </p:nvSpPr>
        <p:spPr>
          <a:xfrm>
            <a:off x="11588017" y="6343519"/>
            <a:ext cx="2389457" cy="1266412"/>
          </a:xfrm>
          <a:custGeom>
            <a:avLst/>
            <a:gdLst/>
            <a:ahLst/>
            <a:cxnLst/>
            <a:rect l="l" t="t" r="r" b="b"/>
            <a:pathLst>
              <a:path w="2389457" h="1266412" extrusionOk="0">
                <a:moveTo>
                  <a:pt x="0" y="0"/>
                </a:moveTo>
                <a:lnTo>
                  <a:pt x="2389456" y="0"/>
                </a:lnTo>
                <a:lnTo>
                  <a:pt x="2389456" y="1266412"/>
                </a:lnTo>
                <a:lnTo>
                  <a:pt x="0" y="12664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Cyber-Futuristic AI Technology Thesis Defense">
  <a:themeElements>
    <a:clrScheme name="Office">
      <a:dk1>
        <a:srgbClr val="0F1A38"/>
      </a:dk1>
      <a:lt1>
        <a:srgbClr val="FFFFFF"/>
      </a:lt1>
      <a:dk2>
        <a:srgbClr val="2D5B8F"/>
      </a:dk2>
      <a:lt2>
        <a:srgbClr val="71CBEF"/>
      </a:lt2>
      <a:accent1>
        <a:srgbClr val="0F1A38"/>
      </a:accent1>
      <a:accent2>
        <a:srgbClr val="2D5B8F"/>
      </a:accent2>
      <a:accent3>
        <a:srgbClr val="71CBEF"/>
      </a:accent3>
      <a:accent4>
        <a:srgbClr val="888888"/>
      </a:accent4>
      <a:accent5>
        <a:srgbClr val="FFFFFF"/>
      </a:accent5>
      <a:accent6>
        <a:srgbClr val="2D5B8F"/>
      </a:accent6>
      <a:hlink>
        <a:srgbClr val="FFFF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1240</Words>
  <Application>Microsoft Office PowerPoint</Application>
  <PresentationFormat>Personalizzato</PresentationFormat>
  <Paragraphs>144</Paragraphs>
  <Slides>12</Slides>
  <Notes>12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7" baseType="lpstr">
      <vt:lpstr>Archivo Black</vt:lpstr>
      <vt:lpstr>Calibri</vt:lpstr>
      <vt:lpstr>Arial</vt:lpstr>
      <vt:lpstr>Noto Sans</vt:lpstr>
      <vt:lpstr>Cyber-Futuristic AI Technology Thesis Defense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Leonardo Chiarparin</cp:lastModifiedBy>
  <cp:revision>16</cp:revision>
  <dcterms:modified xsi:type="dcterms:W3CDTF">2026-03-10T07:33:35Z</dcterms:modified>
</cp:coreProperties>
</file>